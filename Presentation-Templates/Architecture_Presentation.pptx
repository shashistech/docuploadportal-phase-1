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4.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6" r:id="rId1"/>
    <p:sldMasterId id="2147483810" r:id="rId2"/>
    <p:sldMasterId id="2147483827" r:id="rId3"/>
    <p:sldMasterId id="2147483845" r:id="rId4"/>
    <p:sldMasterId id="2147483875" r:id="rId5"/>
  </p:sldMasterIdLst>
  <p:sldIdLst>
    <p:sldId id="256" r:id="rId6"/>
    <p:sldId id="257" r:id="rId7"/>
    <p:sldId id="258" r:id="rId8"/>
    <p:sldId id="259" r:id="rId9"/>
    <p:sldId id="260" r:id="rId10"/>
    <p:sldId id="261" r:id="rId11"/>
    <p:sldId id="271" r:id="rId12"/>
    <p:sldId id="262" r:id="rId13"/>
    <p:sldId id="263" r:id="rId14"/>
    <p:sldId id="272" r:id="rId15"/>
    <p:sldId id="265" r:id="rId16"/>
    <p:sldId id="266" r:id="rId17"/>
    <p:sldId id="267" r:id="rId18"/>
    <p:sldId id="268" r:id="rId19"/>
    <p:sldId id="269" r:id="rId20"/>
    <p:sldId id="270" r:id="rId21"/>
    <p:sldId id="27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90260E5-B667-491D-80A9-BBACF9EE6470}">
          <p14:sldIdLst>
            <p14:sldId id="256"/>
            <p14:sldId id="257"/>
          </p14:sldIdLst>
        </p14:section>
        <p14:section name="Untitled Section" id="{991DF87C-C329-47D5-B846-8D99CEF59136}">
          <p14:sldIdLst>
            <p14:sldId id="258"/>
            <p14:sldId id="259"/>
          </p14:sldIdLst>
        </p14:section>
        <p14:section name="Untitled Section" id="{9DAA75B8-0D46-48F3-9FF4-FA58245C642A}">
          <p14:sldIdLst>
            <p14:sldId id="260"/>
            <p14:sldId id="261"/>
            <p14:sldId id="271"/>
            <p14:sldId id="262"/>
            <p14:sldId id="263"/>
            <p14:sldId id="272"/>
            <p14:sldId id="265"/>
            <p14:sldId id="266"/>
            <p14:sldId id="267"/>
            <p14:sldId id="268"/>
            <p14:sldId id="269"/>
            <p14:sldId id="270"/>
            <p14:sldId id="27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8B92D6-E91E-EA02-51C8-F7E4E6DC7F52}" name="Shashi Shekhar" initials="SS" userId="a45e17ad28fe00d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1179"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microsoft.com/office/2018/10/relationships/authors" Targe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311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5919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558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5/23/2026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7941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5548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4680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5076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5/23/2026</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1192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0"/>
            <a:ext cx="4576573" cy="6858000"/>
          </a:xfrm>
          <a:solidFill>
            <a:schemeClr val="bg1"/>
          </a:solidFill>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5/23/2026</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3418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0152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4182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76989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381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8132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44958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6601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4630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55434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55609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0025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9787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95046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07735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40233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5676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4684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29225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8020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5BCAD085-E8A6-8845-BD4E-CB4CCA059FC4}" type="datetimeFigureOut">
              <a:rPr lang="en-US" smtClean="0"/>
              <a:t>5/23/2026</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57920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20055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08827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13034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18810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9468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44083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72953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03943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25660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28342994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12246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82592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21970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4517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11422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3637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69648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89441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44377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2538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63898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68008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86266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74337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27641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94951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91975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925118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86716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87533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149887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77894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438724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192521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801290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52305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75707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20633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3078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541639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20064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782148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968030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258008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2081865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212109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755524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6351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image" Target="../media/image2.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theme" Target="../theme/theme4.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image" Target="../media/image6.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image" Target="../media/image5.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theme" Target="../theme/theme5.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6045" y="964692"/>
            <a:ext cx="5937755"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8698561"/>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ctr" defTabSz="914400" rtl="0" eaLnBrk="1" latinLnBrk="0" hangingPunct="1">
        <a:lnSpc>
          <a:spcPct val="90000"/>
        </a:lnSpc>
        <a:spcBef>
          <a:spcPct val="0"/>
        </a:spcBef>
        <a:buNone/>
        <a:defRPr sz="26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855165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98383205"/>
      </p:ext>
    </p:extLst>
  </p:cSld>
  <p:clrMap bg1="dk1" tx1="lt1" bg2="dk2" tx2="lt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43747442"/>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71376013"/>
      </p:ext>
    </p:extLst>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9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Document Upload Portal</a:t>
            </a:r>
          </a:p>
        </p:txBody>
      </p:sp>
      <p:sp>
        <p:nvSpPr>
          <p:cNvPr id="3" name="Rectangle 2"/>
          <p:cNvSpPr/>
          <p:nvPr/>
        </p:nvSpPr>
        <p:spPr>
          <a:xfrm>
            <a:off x="457200" y="914400"/>
            <a:ext cx="8497019"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D5457D6-F404-A885-C6A3-7822CEE807A8}"/>
              </a:ext>
            </a:extLst>
          </p:cNvPr>
          <p:cNvSpPr txBox="1"/>
          <p:nvPr/>
        </p:nvSpPr>
        <p:spPr>
          <a:xfrm>
            <a:off x="600974" y="1281596"/>
            <a:ext cx="3763992" cy="3447098"/>
          </a:xfrm>
          <a:prstGeom prst="rect">
            <a:avLst/>
          </a:prstGeom>
          <a:noFill/>
        </p:spPr>
        <p:txBody>
          <a:bodyPr wrap="square">
            <a:spAutoFit/>
          </a:bodyPr>
          <a:lstStyle/>
          <a:p>
            <a:endParaRPr lang="en-IN" b="1" dirty="0"/>
          </a:p>
          <a:p>
            <a:r>
              <a:rPr lang="en-IN" b="1" dirty="0"/>
              <a:t>Prepared By:</a:t>
            </a:r>
          </a:p>
          <a:p>
            <a:r>
              <a:rPr lang="en-IN" b="1" dirty="0"/>
              <a:t>	Shashi Shekhar (2057793)</a:t>
            </a:r>
          </a:p>
          <a:p>
            <a:endParaRPr lang="en-IN" dirty="0"/>
          </a:p>
          <a:p>
            <a:r>
              <a:rPr lang="en-IN" b="1" dirty="0"/>
              <a:t>Technology Stack:</a:t>
            </a:r>
          </a:p>
          <a:p>
            <a:r>
              <a:rPr lang="en-IN" dirty="0"/>
              <a:t>ASP.NET Core Web Application </a:t>
            </a:r>
          </a:p>
          <a:p>
            <a:r>
              <a:rPr lang="en-IN" dirty="0"/>
              <a:t>.NET Core Web API </a:t>
            </a:r>
          </a:p>
          <a:p>
            <a:r>
              <a:rPr lang="en-IN" dirty="0"/>
              <a:t>Azure App Services </a:t>
            </a:r>
          </a:p>
          <a:p>
            <a:r>
              <a:rPr lang="en-IN" dirty="0"/>
              <a:t>Azure SQL Database </a:t>
            </a:r>
          </a:p>
          <a:p>
            <a:r>
              <a:rPr lang="en-IN" dirty="0"/>
              <a:t>Azure Key Vault </a:t>
            </a:r>
          </a:p>
          <a:p>
            <a:r>
              <a:rPr lang="en-IN" dirty="0"/>
              <a:t>Azure Monitor &amp; Application Insights</a:t>
            </a:r>
          </a:p>
          <a:p>
            <a:pPr>
              <a:defRPr sz="2000">
                <a:solidFill>
                  <a:srgbClr val="3C3C3C"/>
                </a:solidFill>
              </a:defRPr>
            </a:pPr>
            <a:endParaRPr dirty="0"/>
          </a:p>
        </p:txBody>
      </p:sp>
      <p:sp>
        <p:nvSpPr>
          <p:cNvPr id="6" name="TextBox 5">
            <a:extLst>
              <a:ext uri="{FF2B5EF4-FFF2-40B4-BE49-F238E27FC236}">
                <a16:creationId xmlns:a16="http://schemas.microsoft.com/office/drawing/2014/main" id="{54420A99-D120-C91D-D455-C954ABB74AAC}"/>
              </a:ext>
            </a:extLst>
          </p:cNvPr>
          <p:cNvSpPr txBox="1"/>
          <p:nvPr/>
        </p:nvSpPr>
        <p:spPr>
          <a:xfrm>
            <a:off x="5326812" y="3967579"/>
            <a:ext cx="3914955" cy="2616101"/>
          </a:xfrm>
          <a:prstGeom prst="rect">
            <a:avLst/>
          </a:prstGeom>
          <a:noFill/>
        </p:spPr>
        <p:txBody>
          <a:bodyPr wrap="square">
            <a:spAutoFit/>
          </a:bodyPr>
          <a:lstStyle/>
          <a:p>
            <a:r>
              <a:rPr lang="en-US" b="1" dirty="0"/>
              <a:t>Key Focus Areas:</a:t>
            </a:r>
          </a:p>
          <a:p>
            <a:r>
              <a:rPr lang="en-US" dirty="0"/>
              <a:t>Secure Image Upload &amp; Preview </a:t>
            </a:r>
          </a:p>
          <a:p>
            <a:r>
              <a:rPr lang="en-US" dirty="0"/>
              <a:t>JWT + RBAC + API Security </a:t>
            </a:r>
          </a:p>
          <a:p>
            <a:r>
              <a:rPr lang="en-US" dirty="0"/>
              <a:t>Cloud Deployment &amp; Scalability </a:t>
            </a:r>
          </a:p>
          <a:p>
            <a:r>
              <a:rPr lang="en-US" dirty="0"/>
              <a:t>Monitoring &amp; Disaster Recovery </a:t>
            </a:r>
          </a:p>
          <a:p>
            <a:r>
              <a:rPr lang="en-US" dirty="0"/>
              <a:t>Enterprise Architecture &amp; DevOps Strategy</a:t>
            </a:r>
          </a:p>
          <a:p>
            <a:endParaRPr lang="en-IN" dirty="0"/>
          </a:p>
          <a:p>
            <a:pPr>
              <a:defRPr sz="2000">
                <a:solidFill>
                  <a:srgbClr val="3C3C3C"/>
                </a:solidFill>
              </a:defRPr>
            </a:pPr>
            <a:endParaRPr dirty="0"/>
          </a:p>
        </p:txBody>
      </p:sp>
      <p:sp>
        <p:nvSpPr>
          <p:cNvPr id="8" name="TextBox 7">
            <a:extLst>
              <a:ext uri="{FF2B5EF4-FFF2-40B4-BE49-F238E27FC236}">
                <a16:creationId xmlns:a16="http://schemas.microsoft.com/office/drawing/2014/main" id="{995DD29F-FF77-3243-EEB6-2FCD6A85A81B}"/>
              </a:ext>
            </a:extLst>
          </p:cNvPr>
          <p:cNvSpPr txBox="1"/>
          <p:nvPr/>
        </p:nvSpPr>
        <p:spPr>
          <a:xfrm>
            <a:off x="560716" y="1163453"/>
            <a:ext cx="7703389" cy="369332"/>
          </a:xfrm>
          <a:prstGeom prst="rect">
            <a:avLst/>
          </a:prstGeom>
          <a:noFill/>
        </p:spPr>
        <p:txBody>
          <a:bodyPr wrap="square">
            <a:spAutoFit/>
          </a:bodyPr>
          <a:lstStyle/>
          <a:p>
            <a:r>
              <a:rPr lang="en-IN" b="1" dirty="0"/>
              <a:t>Secure • Scalable • Cloud-Native Azure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410755" cy="523220"/>
          </a:xfrm>
          <a:prstGeom prst="rect">
            <a:avLst/>
          </a:prstGeom>
          <a:noFill/>
        </p:spPr>
        <p:txBody>
          <a:bodyPr wrap="square">
            <a:spAutoFit/>
          </a:bodyPr>
          <a:lstStyle/>
          <a:p>
            <a:pPr>
              <a:defRPr sz="2800" b="1">
                <a:solidFill>
                  <a:srgbClr val="003366"/>
                </a:solidFill>
              </a:defRPr>
            </a:pPr>
            <a:r>
              <a:t>Use Case Overview</a:t>
            </a:r>
          </a:p>
        </p:txBody>
      </p:sp>
      <p:sp>
        <p:nvSpPr>
          <p:cNvPr id="3" name="Rectangle 2"/>
          <p:cNvSpPr/>
          <p:nvPr/>
        </p:nvSpPr>
        <p:spPr>
          <a:xfrm>
            <a:off x="457200" y="914400"/>
            <a:ext cx="8410755"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A890A4EE-E6EE-6226-ED3B-0DABC8E06FBD}"/>
              </a:ext>
            </a:extLst>
          </p:cNvPr>
          <p:cNvSpPr/>
          <p:nvPr/>
        </p:nvSpPr>
        <p:spPr>
          <a:xfrm>
            <a:off x="731520" y="1264057"/>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15E695F-CBEE-1CF3-3777-E5A9C32479CF}"/>
              </a:ext>
            </a:extLst>
          </p:cNvPr>
          <p:cNvSpPr txBox="1"/>
          <p:nvPr/>
        </p:nvSpPr>
        <p:spPr>
          <a:xfrm>
            <a:off x="868680" y="1353312"/>
            <a:ext cx="182880" cy="182880"/>
          </a:xfrm>
          <a:prstGeom prst="rect">
            <a:avLst/>
          </a:prstGeom>
          <a:noFill/>
        </p:spPr>
        <p:txBody>
          <a:bodyPr wrap="none">
            <a:spAutoFit/>
          </a:bodyPr>
          <a:lstStyle/>
          <a:p>
            <a:pPr>
              <a:defRPr b="1"/>
            </a:pPr>
            <a:r>
              <a:t>1</a:t>
            </a:r>
          </a:p>
        </p:txBody>
      </p:sp>
      <p:sp>
        <p:nvSpPr>
          <p:cNvPr id="8" name="Rounded Rectangle 5">
            <a:extLst>
              <a:ext uri="{FF2B5EF4-FFF2-40B4-BE49-F238E27FC236}">
                <a16:creationId xmlns:a16="http://schemas.microsoft.com/office/drawing/2014/main" id="{EC7EB0B0-0694-2EC6-A98E-4B4C07B3CA6E}"/>
              </a:ext>
            </a:extLst>
          </p:cNvPr>
          <p:cNvSpPr/>
          <p:nvPr/>
        </p:nvSpPr>
        <p:spPr>
          <a:xfrm>
            <a:off x="1371600" y="1234439"/>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D9BD440-1A8D-3C32-CEA0-7F1E68C60AC2}"/>
              </a:ext>
            </a:extLst>
          </p:cNvPr>
          <p:cNvSpPr txBox="1"/>
          <p:nvPr/>
        </p:nvSpPr>
        <p:spPr>
          <a:xfrm>
            <a:off x="1645920" y="1371600"/>
            <a:ext cx="6090000" cy="584775"/>
          </a:xfrm>
          <a:prstGeom prst="rect">
            <a:avLst/>
          </a:prstGeom>
          <a:noFill/>
        </p:spPr>
        <p:txBody>
          <a:bodyPr wrap="none">
            <a:spAutoFit/>
          </a:bodyPr>
          <a:lstStyle/>
          <a:p>
            <a:pPr>
              <a:defRPr sz="1600">
                <a:solidFill>
                  <a:srgbClr val="2D2D2D"/>
                </a:solidFill>
              </a:defRPr>
            </a:pPr>
            <a:r>
              <a:rPr lang="en-IN" dirty="0"/>
              <a:t>Secure enterprise application for image upload and preview operations</a:t>
            </a:r>
          </a:p>
          <a:p>
            <a:pPr>
              <a:defRPr sz="1600">
                <a:solidFill>
                  <a:srgbClr val="2D2D2D"/>
                </a:solidFill>
              </a:defRPr>
            </a:pPr>
            <a:endParaRPr dirty="0"/>
          </a:p>
        </p:txBody>
      </p:sp>
      <p:sp>
        <p:nvSpPr>
          <p:cNvPr id="10" name="Oval 9">
            <a:extLst>
              <a:ext uri="{FF2B5EF4-FFF2-40B4-BE49-F238E27FC236}">
                <a16:creationId xmlns:a16="http://schemas.microsoft.com/office/drawing/2014/main" id="{1FB99D84-83E5-A1D7-90E5-FFE64767371E}"/>
              </a:ext>
            </a:extLst>
          </p:cNvPr>
          <p:cNvSpPr/>
          <p:nvPr/>
        </p:nvSpPr>
        <p:spPr>
          <a:xfrm>
            <a:off x="731520" y="2286000"/>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164331C-50F3-0478-6D19-C221C73B8247}"/>
              </a:ext>
            </a:extLst>
          </p:cNvPr>
          <p:cNvSpPr txBox="1"/>
          <p:nvPr/>
        </p:nvSpPr>
        <p:spPr>
          <a:xfrm>
            <a:off x="868680" y="2359152"/>
            <a:ext cx="182880" cy="182880"/>
          </a:xfrm>
          <a:prstGeom prst="rect">
            <a:avLst/>
          </a:prstGeom>
          <a:noFill/>
        </p:spPr>
        <p:txBody>
          <a:bodyPr wrap="none">
            <a:spAutoFit/>
          </a:bodyPr>
          <a:lstStyle/>
          <a:p>
            <a:pPr>
              <a:defRPr b="1"/>
            </a:pPr>
            <a:r>
              <a:t>2</a:t>
            </a:r>
          </a:p>
        </p:txBody>
      </p:sp>
      <p:sp>
        <p:nvSpPr>
          <p:cNvPr id="12" name="Rounded Rectangle 9">
            <a:extLst>
              <a:ext uri="{FF2B5EF4-FFF2-40B4-BE49-F238E27FC236}">
                <a16:creationId xmlns:a16="http://schemas.microsoft.com/office/drawing/2014/main" id="{CA5EA15E-A442-3236-1706-2463ADE3C14A}"/>
              </a:ext>
            </a:extLst>
          </p:cNvPr>
          <p:cNvSpPr/>
          <p:nvPr/>
        </p:nvSpPr>
        <p:spPr>
          <a:xfrm>
            <a:off x="1371600" y="2240280"/>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ED41A4A-F772-617A-D5B6-D4B4075697AE}"/>
              </a:ext>
            </a:extLst>
          </p:cNvPr>
          <p:cNvSpPr txBox="1"/>
          <p:nvPr/>
        </p:nvSpPr>
        <p:spPr>
          <a:xfrm>
            <a:off x="1645920" y="2377440"/>
            <a:ext cx="5315879" cy="338554"/>
          </a:xfrm>
          <a:prstGeom prst="rect">
            <a:avLst/>
          </a:prstGeom>
          <a:noFill/>
        </p:spPr>
        <p:txBody>
          <a:bodyPr wrap="none">
            <a:spAutoFit/>
          </a:bodyPr>
          <a:lstStyle/>
          <a:p>
            <a:pPr>
              <a:defRPr sz="1600">
                <a:solidFill>
                  <a:srgbClr val="2D2D2D"/>
                </a:solidFill>
              </a:defRPr>
            </a:pPr>
            <a:r>
              <a:rPr lang="en-IN" dirty="0"/>
              <a:t>Built using .NET Core Web Application and .NET Core Web API</a:t>
            </a:r>
            <a:endParaRPr dirty="0"/>
          </a:p>
        </p:txBody>
      </p:sp>
      <p:sp>
        <p:nvSpPr>
          <p:cNvPr id="14" name="Oval 13">
            <a:extLst>
              <a:ext uri="{FF2B5EF4-FFF2-40B4-BE49-F238E27FC236}">
                <a16:creationId xmlns:a16="http://schemas.microsoft.com/office/drawing/2014/main" id="{B837F5D4-8F1E-F171-7E26-7E3DDED4B296}"/>
              </a:ext>
            </a:extLst>
          </p:cNvPr>
          <p:cNvSpPr/>
          <p:nvPr/>
        </p:nvSpPr>
        <p:spPr>
          <a:xfrm>
            <a:off x="731520" y="3291840"/>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2EFCA75D-23E2-2DF9-7E3A-8E534B748ACD}"/>
              </a:ext>
            </a:extLst>
          </p:cNvPr>
          <p:cNvSpPr txBox="1"/>
          <p:nvPr/>
        </p:nvSpPr>
        <p:spPr>
          <a:xfrm>
            <a:off x="868680" y="3364992"/>
            <a:ext cx="182880" cy="182880"/>
          </a:xfrm>
          <a:prstGeom prst="rect">
            <a:avLst/>
          </a:prstGeom>
          <a:noFill/>
        </p:spPr>
        <p:txBody>
          <a:bodyPr wrap="none">
            <a:spAutoFit/>
          </a:bodyPr>
          <a:lstStyle/>
          <a:p>
            <a:pPr>
              <a:defRPr b="1"/>
            </a:pPr>
            <a:r>
              <a:t>3</a:t>
            </a:r>
          </a:p>
        </p:txBody>
      </p:sp>
      <p:sp>
        <p:nvSpPr>
          <p:cNvPr id="16" name="Rounded Rectangle 13">
            <a:extLst>
              <a:ext uri="{FF2B5EF4-FFF2-40B4-BE49-F238E27FC236}">
                <a16:creationId xmlns:a16="http://schemas.microsoft.com/office/drawing/2014/main" id="{6EB8CD20-1AAF-96E1-2A3B-46834481DE5C}"/>
              </a:ext>
            </a:extLst>
          </p:cNvPr>
          <p:cNvSpPr/>
          <p:nvPr/>
        </p:nvSpPr>
        <p:spPr>
          <a:xfrm>
            <a:off x="1371600" y="3246120"/>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3E9E43B-65C7-B1A0-FD98-AE78023F4205}"/>
              </a:ext>
            </a:extLst>
          </p:cNvPr>
          <p:cNvSpPr txBox="1"/>
          <p:nvPr/>
        </p:nvSpPr>
        <p:spPr>
          <a:xfrm>
            <a:off x="1645920" y="3383280"/>
            <a:ext cx="5582106" cy="584775"/>
          </a:xfrm>
          <a:prstGeom prst="rect">
            <a:avLst/>
          </a:prstGeom>
          <a:noFill/>
        </p:spPr>
        <p:txBody>
          <a:bodyPr wrap="none">
            <a:spAutoFit/>
          </a:bodyPr>
          <a:lstStyle/>
          <a:p>
            <a:pPr>
              <a:defRPr sz="1600">
                <a:solidFill>
                  <a:srgbClr val="2D2D2D"/>
                </a:solidFill>
              </a:defRPr>
            </a:pPr>
            <a:r>
              <a:rPr lang="en-IN" dirty="0"/>
              <a:t>Supports validation, preview, retrieval, and metadata persistence</a:t>
            </a:r>
          </a:p>
          <a:p>
            <a:pPr>
              <a:defRPr sz="1600">
                <a:solidFill>
                  <a:srgbClr val="2D2D2D"/>
                </a:solidFill>
              </a:defRPr>
            </a:pPr>
            <a:endParaRPr dirty="0"/>
          </a:p>
        </p:txBody>
      </p:sp>
      <p:sp>
        <p:nvSpPr>
          <p:cNvPr id="18" name="Oval 17">
            <a:extLst>
              <a:ext uri="{FF2B5EF4-FFF2-40B4-BE49-F238E27FC236}">
                <a16:creationId xmlns:a16="http://schemas.microsoft.com/office/drawing/2014/main" id="{3830C4BD-BC90-615C-0B96-A8C9B8A2E6EC}"/>
              </a:ext>
            </a:extLst>
          </p:cNvPr>
          <p:cNvSpPr/>
          <p:nvPr/>
        </p:nvSpPr>
        <p:spPr>
          <a:xfrm>
            <a:off x="731520" y="4297680"/>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7F87D596-E295-ADF3-16BF-9BF8E8FEF0F4}"/>
              </a:ext>
            </a:extLst>
          </p:cNvPr>
          <p:cNvSpPr txBox="1"/>
          <p:nvPr/>
        </p:nvSpPr>
        <p:spPr>
          <a:xfrm>
            <a:off x="868680" y="4370832"/>
            <a:ext cx="182880" cy="182880"/>
          </a:xfrm>
          <a:prstGeom prst="rect">
            <a:avLst/>
          </a:prstGeom>
          <a:noFill/>
        </p:spPr>
        <p:txBody>
          <a:bodyPr wrap="none">
            <a:spAutoFit/>
          </a:bodyPr>
          <a:lstStyle/>
          <a:p>
            <a:pPr>
              <a:defRPr b="1"/>
            </a:pPr>
            <a:r>
              <a:t>4</a:t>
            </a:r>
          </a:p>
        </p:txBody>
      </p:sp>
      <p:sp>
        <p:nvSpPr>
          <p:cNvPr id="20" name="Rounded Rectangle 17">
            <a:extLst>
              <a:ext uri="{FF2B5EF4-FFF2-40B4-BE49-F238E27FC236}">
                <a16:creationId xmlns:a16="http://schemas.microsoft.com/office/drawing/2014/main" id="{51FB7642-F712-7DA2-BEB6-F7040C264B28}"/>
              </a:ext>
            </a:extLst>
          </p:cNvPr>
          <p:cNvSpPr/>
          <p:nvPr/>
        </p:nvSpPr>
        <p:spPr>
          <a:xfrm>
            <a:off x="1371600" y="4251960"/>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BE575E26-88AA-AA95-4413-557EF90B16BE}"/>
              </a:ext>
            </a:extLst>
          </p:cNvPr>
          <p:cNvSpPr txBox="1"/>
          <p:nvPr/>
        </p:nvSpPr>
        <p:spPr>
          <a:xfrm>
            <a:off x="1645920" y="4389120"/>
            <a:ext cx="4977003" cy="584775"/>
          </a:xfrm>
          <a:prstGeom prst="rect">
            <a:avLst/>
          </a:prstGeom>
          <a:noFill/>
        </p:spPr>
        <p:txBody>
          <a:bodyPr wrap="none">
            <a:spAutoFit/>
          </a:bodyPr>
          <a:lstStyle/>
          <a:p>
            <a:pPr>
              <a:defRPr sz="1600">
                <a:solidFill>
                  <a:srgbClr val="2D2D2D"/>
                </a:solidFill>
              </a:defRPr>
            </a:pPr>
            <a:r>
              <a:rPr lang="en-IN" dirty="0"/>
              <a:t>Hosted on Microsoft Azure with enterprise-grade security</a:t>
            </a:r>
          </a:p>
          <a:p>
            <a:pPr>
              <a:defRPr sz="1600">
                <a:solidFill>
                  <a:srgbClr val="2D2D2D"/>
                </a:solidFill>
              </a:defRPr>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Scope &amp; Out of Scope</a:t>
            </a:r>
          </a:p>
        </p:txBody>
      </p:sp>
      <p:sp>
        <p:nvSpPr>
          <p:cNvPr id="3" name="Rectangle 2"/>
          <p:cNvSpPr/>
          <p:nvPr/>
        </p:nvSpPr>
        <p:spPr>
          <a:xfrm>
            <a:off x="457200" y="914400"/>
            <a:ext cx="8416506" cy="73152"/>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84731" cy="707886"/>
          </a:xfrm>
          <a:prstGeom prst="rect">
            <a:avLst/>
          </a:prstGeom>
          <a:noFill/>
        </p:spPr>
        <p:txBody>
          <a:bodyPr wrap="none">
            <a:spAutoFit/>
          </a:bodyPr>
          <a:lstStyle/>
          <a:p>
            <a:pPr>
              <a:defRPr sz="2000">
                <a:solidFill>
                  <a:srgbClr val="3C3C3C"/>
                </a:solidFill>
              </a:defRPr>
            </a:pPr>
            <a:endParaRPr lang="en-IN" dirty="0"/>
          </a:p>
          <a:p>
            <a:pPr>
              <a:defRPr sz="2000">
                <a:solidFill>
                  <a:srgbClr val="3C3C3C"/>
                </a:solidFill>
              </a:defRPr>
            </a:pPr>
            <a:endParaRPr dirty="0"/>
          </a:p>
        </p:txBody>
      </p:sp>
      <p:sp>
        <p:nvSpPr>
          <p:cNvPr id="10" name="Rounded Rectangle 5">
            <a:extLst>
              <a:ext uri="{FF2B5EF4-FFF2-40B4-BE49-F238E27FC236}">
                <a16:creationId xmlns:a16="http://schemas.microsoft.com/office/drawing/2014/main" id="{58629A24-6746-79CF-3D12-6968CAA31776}"/>
              </a:ext>
            </a:extLst>
          </p:cNvPr>
          <p:cNvSpPr/>
          <p:nvPr/>
        </p:nvSpPr>
        <p:spPr>
          <a:xfrm>
            <a:off x="497457" y="1256525"/>
            <a:ext cx="3758241" cy="3821558"/>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b="1" dirty="0">
                <a:solidFill>
                  <a:schemeClr val="tx1"/>
                </a:solidFill>
              </a:rPr>
              <a:t>In Scope: </a:t>
            </a:r>
            <a:r>
              <a:rPr lang="en-IN" dirty="0">
                <a:solidFill>
                  <a:schemeClr val="tx1"/>
                </a:solidFill>
              </a:rPr>
              <a:t>Upload, Preview, JWT Authentication + API Key, RBAC, Monitoring, Azure Deployment.</a:t>
            </a:r>
          </a:p>
          <a:p>
            <a:endParaRPr dirty="0">
              <a:solidFill>
                <a:schemeClr val="tx1"/>
              </a:solidFill>
            </a:endParaRPr>
          </a:p>
        </p:txBody>
      </p:sp>
      <p:sp>
        <p:nvSpPr>
          <p:cNvPr id="12" name="Rounded Rectangle 5">
            <a:extLst>
              <a:ext uri="{FF2B5EF4-FFF2-40B4-BE49-F238E27FC236}">
                <a16:creationId xmlns:a16="http://schemas.microsoft.com/office/drawing/2014/main" id="{A0B458B8-D42D-BE78-E883-AA0658D12A08}"/>
              </a:ext>
            </a:extLst>
          </p:cNvPr>
          <p:cNvSpPr/>
          <p:nvPr/>
        </p:nvSpPr>
        <p:spPr>
          <a:xfrm>
            <a:off x="4502989" y="1256526"/>
            <a:ext cx="4196750" cy="371114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defRPr sz="2000">
                <a:solidFill>
                  <a:srgbClr val="3C3C3C"/>
                </a:solidFill>
              </a:defRPr>
            </a:pPr>
            <a:r>
              <a:rPr lang="en-IN" b="1" dirty="0"/>
              <a:t>Out of Scope: </a:t>
            </a:r>
            <a:r>
              <a:rPr lang="en-IN" dirty="0"/>
              <a:t>Azure Blob Storage, AI Image Analysis, Compression, Duplicate Detection, Watermarking, Inline Preview.</a:t>
            </a:r>
          </a:p>
          <a:p>
            <a:endParaRPr dirty="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Business Requirements</a:t>
            </a:r>
          </a:p>
        </p:txBody>
      </p:sp>
      <p:sp>
        <p:nvSpPr>
          <p:cNvPr id="3" name="Rectangle 2"/>
          <p:cNvSpPr/>
          <p:nvPr/>
        </p:nvSpPr>
        <p:spPr>
          <a:xfrm>
            <a:off x="457200" y="914400"/>
            <a:ext cx="8462513"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D545B5BF-827A-39D9-1FA3-29870E0844E9}"/>
              </a:ext>
            </a:extLst>
          </p:cNvPr>
          <p:cNvSpPr/>
          <p:nvPr/>
        </p:nvSpPr>
        <p:spPr>
          <a:xfrm>
            <a:off x="731520" y="1264057"/>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E11201D-D5FF-6AC9-CDF5-D014E5E1FB0F}"/>
              </a:ext>
            </a:extLst>
          </p:cNvPr>
          <p:cNvSpPr txBox="1"/>
          <p:nvPr/>
        </p:nvSpPr>
        <p:spPr>
          <a:xfrm>
            <a:off x="868680" y="1353312"/>
            <a:ext cx="182880" cy="182880"/>
          </a:xfrm>
          <a:prstGeom prst="rect">
            <a:avLst/>
          </a:prstGeom>
          <a:noFill/>
        </p:spPr>
        <p:txBody>
          <a:bodyPr wrap="none">
            <a:spAutoFit/>
          </a:bodyPr>
          <a:lstStyle/>
          <a:p>
            <a:pPr>
              <a:defRPr b="1"/>
            </a:pPr>
            <a:r>
              <a:t>1</a:t>
            </a:r>
          </a:p>
        </p:txBody>
      </p:sp>
      <p:sp>
        <p:nvSpPr>
          <p:cNvPr id="7" name="Rounded Rectangle 5">
            <a:extLst>
              <a:ext uri="{FF2B5EF4-FFF2-40B4-BE49-F238E27FC236}">
                <a16:creationId xmlns:a16="http://schemas.microsoft.com/office/drawing/2014/main" id="{C17B6277-C482-B74E-211C-F944580AF60B}"/>
              </a:ext>
            </a:extLst>
          </p:cNvPr>
          <p:cNvSpPr/>
          <p:nvPr/>
        </p:nvSpPr>
        <p:spPr>
          <a:xfrm>
            <a:off x="1371600" y="1234439"/>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FFC07EC-1BCB-ECD6-1889-39141ECA76F7}"/>
              </a:ext>
            </a:extLst>
          </p:cNvPr>
          <p:cNvSpPr txBox="1"/>
          <p:nvPr/>
        </p:nvSpPr>
        <p:spPr>
          <a:xfrm>
            <a:off x="1645920" y="1371600"/>
            <a:ext cx="2694969" cy="830997"/>
          </a:xfrm>
          <a:prstGeom prst="rect">
            <a:avLst/>
          </a:prstGeom>
          <a:noFill/>
        </p:spPr>
        <p:txBody>
          <a:bodyPr wrap="none">
            <a:spAutoFit/>
          </a:bodyPr>
          <a:lstStyle/>
          <a:p>
            <a:pPr>
              <a:defRPr sz="1600">
                <a:solidFill>
                  <a:srgbClr val="2D2D2D"/>
                </a:solidFill>
              </a:defRPr>
            </a:pPr>
            <a:r>
              <a:rPr lang="en-IN" dirty="0"/>
              <a:t>High Availability and Reliability</a:t>
            </a:r>
          </a:p>
          <a:p>
            <a:pPr>
              <a:defRPr sz="1600">
                <a:solidFill>
                  <a:srgbClr val="2D2D2D"/>
                </a:solidFill>
              </a:defRPr>
            </a:pPr>
            <a:endParaRPr lang="en-IN" dirty="0"/>
          </a:p>
          <a:p>
            <a:pPr>
              <a:defRPr sz="1600">
                <a:solidFill>
                  <a:srgbClr val="2D2D2D"/>
                </a:solidFill>
              </a:defRPr>
            </a:pPr>
            <a:endParaRPr dirty="0"/>
          </a:p>
        </p:txBody>
      </p:sp>
      <p:sp>
        <p:nvSpPr>
          <p:cNvPr id="9" name="Oval 8">
            <a:extLst>
              <a:ext uri="{FF2B5EF4-FFF2-40B4-BE49-F238E27FC236}">
                <a16:creationId xmlns:a16="http://schemas.microsoft.com/office/drawing/2014/main" id="{7097D284-8878-3E37-AC42-B63289381E10}"/>
              </a:ext>
            </a:extLst>
          </p:cNvPr>
          <p:cNvSpPr/>
          <p:nvPr/>
        </p:nvSpPr>
        <p:spPr>
          <a:xfrm>
            <a:off x="731520" y="2286000"/>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9E6DFEEA-166F-1374-9BC7-389CE89F83DA}"/>
              </a:ext>
            </a:extLst>
          </p:cNvPr>
          <p:cNvSpPr txBox="1"/>
          <p:nvPr/>
        </p:nvSpPr>
        <p:spPr>
          <a:xfrm>
            <a:off x="868680" y="2359152"/>
            <a:ext cx="182880" cy="182880"/>
          </a:xfrm>
          <a:prstGeom prst="rect">
            <a:avLst/>
          </a:prstGeom>
          <a:noFill/>
        </p:spPr>
        <p:txBody>
          <a:bodyPr wrap="none">
            <a:spAutoFit/>
          </a:bodyPr>
          <a:lstStyle/>
          <a:p>
            <a:pPr>
              <a:defRPr b="1"/>
            </a:pPr>
            <a:r>
              <a:t>2</a:t>
            </a:r>
          </a:p>
        </p:txBody>
      </p:sp>
      <p:sp>
        <p:nvSpPr>
          <p:cNvPr id="11" name="Rounded Rectangle 9">
            <a:extLst>
              <a:ext uri="{FF2B5EF4-FFF2-40B4-BE49-F238E27FC236}">
                <a16:creationId xmlns:a16="http://schemas.microsoft.com/office/drawing/2014/main" id="{10902720-4A50-0CB1-D458-5D0CA96D7591}"/>
              </a:ext>
            </a:extLst>
          </p:cNvPr>
          <p:cNvSpPr/>
          <p:nvPr/>
        </p:nvSpPr>
        <p:spPr>
          <a:xfrm>
            <a:off x="1371600" y="2240280"/>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EAF7AFAB-1FDB-C522-2AA6-021EDAA62800}"/>
              </a:ext>
            </a:extLst>
          </p:cNvPr>
          <p:cNvSpPr txBox="1"/>
          <p:nvPr/>
        </p:nvSpPr>
        <p:spPr>
          <a:xfrm>
            <a:off x="1645920" y="2377440"/>
            <a:ext cx="5008807" cy="338554"/>
          </a:xfrm>
          <a:prstGeom prst="rect">
            <a:avLst/>
          </a:prstGeom>
          <a:noFill/>
        </p:spPr>
        <p:txBody>
          <a:bodyPr wrap="none">
            <a:spAutoFit/>
          </a:bodyPr>
          <a:lstStyle/>
          <a:p>
            <a:pPr>
              <a:defRPr sz="1600">
                <a:solidFill>
                  <a:srgbClr val="2D2D2D"/>
                </a:solidFill>
              </a:defRPr>
            </a:pPr>
            <a:r>
              <a:rPr lang="en-US" dirty="0"/>
              <a:t>Secure API Communication using JWT + API Key + RBAC</a:t>
            </a:r>
            <a:endParaRPr dirty="0"/>
          </a:p>
        </p:txBody>
      </p:sp>
      <p:sp>
        <p:nvSpPr>
          <p:cNvPr id="13" name="Oval 12">
            <a:extLst>
              <a:ext uri="{FF2B5EF4-FFF2-40B4-BE49-F238E27FC236}">
                <a16:creationId xmlns:a16="http://schemas.microsoft.com/office/drawing/2014/main" id="{2C125386-F1FC-3A2D-911E-D2A045F9558D}"/>
              </a:ext>
            </a:extLst>
          </p:cNvPr>
          <p:cNvSpPr/>
          <p:nvPr/>
        </p:nvSpPr>
        <p:spPr>
          <a:xfrm>
            <a:off x="731520" y="3291840"/>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BEEEC0B-5147-004C-3CA9-0C05DBD3435A}"/>
              </a:ext>
            </a:extLst>
          </p:cNvPr>
          <p:cNvSpPr txBox="1"/>
          <p:nvPr/>
        </p:nvSpPr>
        <p:spPr>
          <a:xfrm>
            <a:off x="868680" y="3364992"/>
            <a:ext cx="182880" cy="182880"/>
          </a:xfrm>
          <a:prstGeom prst="rect">
            <a:avLst/>
          </a:prstGeom>
          <a:noFill/>
        </p:spPr>
        <p:txBody>
          <a:bodyPr wrap="none">
            <a:spAutoFit/>
          </a:bodyPr>
          <a:lstStyle/>
          <a:p>
            <a:pPr>
              <a:defRPr b="1"/>
            </a:pPr>
            <a:r>
              <a:t>3</a:t>
            </a:r>
          </a:p>
        </p:txBody>
      </p:sp>
      <p:sp>
        <p:nvSpPr>
          <p:cNvPr id="15" name="Rounded Rectangle 13">
            <a:extLst>
              <a:ext uri="{FF2B5EF4-FFF2-40B4-BE49-F238E27FC236}">
                <a16:creationId xmlns:a16="http://schemas.microsoft.com/office/drawing/2014/main" id="{9EB42A0A-B34A-59A9-FE28-3B666746174C}"/>
              </a:ext>
            </a:extLst>
          </p:cNvPr>
          <p:cNvSpPr/>
          <p:nvPr/>
        </p:nvSpPr>
        <p:spPr>
          <a:xfrm>
            <a:off x="1371600" y="3246120"/>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D4031F4F-4DCF-62DE-D219-C8929DE4F952}"/>
              </a:ext>
            </a:extLst>
          </p:cNvPr>
          <p:cNvSpPr txBox="1"/>
          <p:nvPr/>
        </p:nvSpPr>
        <p:spPr>
          <a:xfrm>
            <a:off x="1645920" y="3383280"/>
            <a:ext cx="3344698" cy="830997"/>
          </a:xfrm>
          <a:prstGeom prst="rect">
            <a:avLst/>
          </a:prstGeom>
          <a:noFill/>
        </p:spPr>
        <p:txBody>
          <a:bodyPr wrap="none">
            <a:spAutoFit/>
          </a:bodyPr>
          <a:lstStyle/>
          <a:p>
            <a:pPr>
              <a:defRPr sz="1600">
                <a:solidFill>
                  <a:srgbClr val="2D2D2D"/>
                </a:solidFill>
              </a:defRPr>
            </a:pPr>
            <a:r>
              <a:rPr lang="en-US" dirty="0"/>
              <a:t>Performance target below 30 seconds</a:t>
            </a:r>
          </a:p>
          <a:p>
            <a:pPr>
              <a:defRPr sz="1600">
                <a:solidFill>
                  <a:srgbClr val="2D2D2D"/>
                </a:solidFill>
              </a:defRPr>
            </a:pPr>
            <a:endParaRPr lang="en-IN" dirty="0"/>
          </a:p>
          <a:p>
            <a:pPr>
              <a:defRPr sz="1600">
                <a:solidFill>
                  <a:srgbClr val="2D2D2D"/>
                </a:solidFill>
              </a:defRPr>
            </a:pPr>
            <a:endParaRPr dirty="0"/>
          </a:p>
        </p:txBody>
      </p:sp>
      <p:sp>
        <p:nvSpPr>
          <p:cNvPr id="17" name="Oval 16">
            <a:extLst>
              <a:ext uri="{FF2B5EF4-FFF2-40B4-BE49-F238E27FC236}">
                <a16:creationId xmlns:a16="http://schemas.microsoft.com/office/drawing/2014/main" id="{6D0817CB-0DAE-DF8E-1608-32F87621BBCE}"/>
              </a:ext>
            </a:extLst>
          </p:cNvPr>
          <p:cNvSpPr/>
          <p:nvPr/>
        </p:nvSpPr>
        <p:spPr>
          <a:xfrm>
            <a:off x="731520" y="4297680"/>
            <a:ext cx="457200" cy="457200"/>
          </a:xfrm>
          <a:prstGeom prst="ellipse">
            <a:avLst/>
          </a:prstGeom>
          <a:solidFill>
            <a:srgbClr val="C9A22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2D662710-0D0B-49D6-F65C-AF6FDFE5C89A}"/>
              </a:ext>
            </a:extLst>
          </p:cNvPr>
          <p:cNvSpPr txBox="1"/>
          <p:nvPr/>
        </p:nvSpPr>
        <p:spPr>
          <a:xfrm>
            <a:off x="868680" y="4370832"/>
            <a:ext cx="182880" cy="182880"/>
          </a:xfrm>
          <a:prstGeom prst="rect">
            <a:avLst/>
          </a:prstGeom>
          <a:noFill/>
        </p:spPr>
        <p:txBody>
          <a:bodyPr wrap="none">
            <a:spAutoFit/>
          </a:bodyPr>
          <a:lstStyle/>
          <a:p>
            <a:pPr>
              <a:defRPr b="1"/>
            </a:pPr>
            <a:r>
              <a:t>4</a:t>
            </a:r>
          </a:p>
        </p:txBody>
      </p:sp>
      <p:sp>
        <p:nvSpPr>
          <p:cNvPr id="19" name="Rounded Rectangle 17">
            <a:extLst>
              <a:ext uri="{FF2B5EF4-FFF2-40B4-BE49-F238E27FC236}">
                <a16:creationId xmlns:a16="http://schemas.microsoft.com/office/drawing/2014/main" id="{A60CEDAA-6E18-CB4E-2D96-ECDAB8913936}"/>
              </a:ext>
            </a:extLst>
          </p:cNvPr>
          <p:cNvSpPr/>
          <p:nvPr/>
        </p:nvSpPr>
        <p:spPr>
          <a:xfrm>
            <a:off x="1371600" y="4251960"/>
            <a:ext cx="7496355" cy="640080"/>
          </a:xfrm>
          <a:prstGeom prst="roundRect">
            <a:avLst/>
          </a:prstGeom>
          <a:solidFill>
            <a:schemeClr val="tx2">
              <a:lumMod val="20000"/>
              <a:lumOff val="80000"/>
            </a:schemeClr>
          </a:solidFill>
          <a:ln>
            <a:solidFill>
              <a:srgbClr val="C9A2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539FB79-4E4C-8412-9305-72800109C8C1}"/>
              </a:ext>
            </a:extLst>
          </p:cNvPr>
          <p:cNvSpPr txBox="1"/>
          <p:nvPr/>
        </p:nvSpPr>
        <p:spPr>
          <a:xfrm>
            <a:off x="1645920" y="4389120"/>
            <a:ext cx="3986989" cy="584775"/>
          </a:xfrm>
          <a:prstGeom prst="rect">
            <a:avLst/>
          </a:prstGeom>
          <a:noFill/>
        </p:spPr>
        <p:txBody>
          <a:bodyPr wrap="none">
            <a:spAutoFit/>
          </a:bodyPr>
          <a:lstStyle/>
          <a:p>
            <a:pPr>
              <a:defRPr sz="1600">
                <a:solidFill>
                  <a:srgbClr val="2D2D2D"/>
                </a:solidFill>
              </a:defRPr>
            </a:pPr>
            <a:r>
              <a:rPr lang="en-US" dirty="0"/>
              <a:t>Scalable and maintainable layered architecture</a:t>
            </a:r>
            <a:endParaRPr lang="en-IN" dirty="0"/>
          </a:p>
          <a:p>
            <a:pPr>
              <a:defRPr sz="1600">
                <a:solidFill>
                  <a:srgbClr val="2D2D2D"/>
                </a:solidFill>
              </a:defRPr>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440" y="274320"/>
            <a:ext cx="4576572" cy="523220"/>
          </a:xfrm>
          <a:prstGeom prst="rect">
            <a:avLst/>
          </a:prstGeom>
          <a:noFill/>
        </p:spPr>
        <p:txBody>
          <a:bodyPr wrap="square">
            <a:spAutoFit/>
          </a:bodyPr>
          <a:lstStyle/>
          <a:p>
            <a:pPr>
              <a:defRPr sz="2800" b="1">
                <a:solidFill>
                  <a:srgbClr val="003366"/>
                </a:solidFill>
              </a:defRPr>
            </a:pPr>
            <a:r>
              <a:rPr dirty="0"/>
              <a:t>Cross Cutting Concerns</a:t>
            </a:r>
          </a:p>
        </p:txBody>
      </p:sp>
      <p:sp>
        <p:nvSpPr>
          <p:cNvPr id="3" name="Rectangle 2"/>
          <p:cNvSpPr/>
          <p:nvPr/>
        </p:nvSpPr>
        <p:spPr>
          <a:xfrm>
            <a:off x="51759" y="803291"/>
            <a:ext cx="8686800" cy="72921"/>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itle 5">
            <a:extLst>
              <a:ext uri="{FF2B5EF4-FFF2-40B4-BE49-F238E27FC236}">
                <a16:creationId xmlns:a16="http://schemas.microsoft.com/office/drawing/2014/main" id="{F762E688-DAA6-2887-C5F2-C92050F744C5}"/>
              </a:ext>
            </a:extLst>
          </p:cNvPr>
          <p:cNvSpPr>
            <a:spLocks noGrp="1"/>
          </p:cNvSpPr>
          <p:nvPr>
            <p:ph type="title"/>
          </p:nvPr>
        </p:nvSpPr>
        <p:spPr>
          <a:xfrm>
            <a:off x="457200" y="2331325"/>
            <a:ext cx="3890512" cy="2608735"/>
          </a:xfrm>
        </p:spPr>
        <p:txBody>
          <a:bodyPr/>
          <a:lstStyle/>
          <a:p>
            <a:pPr>
              <a:defRPr sz="2000">
                <a:solidFill>
                  <a:srgbClr val="3C3C3C"/>
                </a:solidFill>
              </a:defRPr>
            </a:pPr>
            <a:r>
              <a:rPr lang="en-US" sz="1400" dirty="0"/>
              <a:t>HTTPS Secure Communication</a:t>
            </a:r>
            <a:br>
              <a:rPr lang="en-US" sz="1400" dirty="0"/>
            </a:br>
            <a:br>
              <a:rPr lang="en-US" sz="1400" dirty="0"/>
            </a:br>
            <a:r>
              <a:rPr lang="en-US" sz="1400" dirty="0"/>
              <a:t>Password-based Authentication</a:t>
            </a:r>
            <a:br>
              <a:rPr lang="en-US" sz="1400" dirty="0"/>
            </a:br>
            <a:br>
              <a:rPr lang="en-US" sz="1400" dirty="0"/>
            </a:br>
            <a:r>
              <a:rPr lang="en-US" sz="1400" dirty="0"/>
              <a:t>2-Factor Authentication (Future Scope)</a:t>
            </a:r>
            <a:br>
              <a:rPr lang="en-US" sz="1400" dirty="0"/>
            </a:br>
            <a:br>
              <a:rPr lang="en-US" sz="1400" dirty="0"/>
            </a:br>
            <a:r>
              <a:rPr lang="en-US" sz="1400" dirty="0"/>
              <a:t>Encryption/Decryption using Azure Key Vault </a:t>
            </a:r>
            <a:br>
              <a:rPr lang="en-IN" sz="1400" dirty="0"/>
            </a:br>
            <a:endParaRPr lang="en-IN" sz="1400" dirty="0"/>
          </a:p>
        </p:txBody>
      </p:sp>
      <p:sp>
        <p:nvSpPr>
          <p:cNvPr id="7" name="Picture Placeholder 6">
            <a:extLst>
              <a:ext uri="{FF2B5EF4-FFF2-40B4-BE49-F238E27FC236}">
                <a16:creationId xmlns:a16="http://schemas.microsoft.com/office/drawing/2014/main" id="{1BDED35F-2A8C-273B-26B9-2BC5C41C107B}"/>
              </a:ext>
            </a:extLst>
          </p:cNvPr>
          <p:cNvSpPr>
            <a:spLocks noGrp="1"/>
          </p:cNvSpPr>
          <p:nvPr>
            <p:ph type="pic" idx="1"/>
          </p:nvPr>
        </p:nvSpPr>
        <p:spPr/>
      </p:sp>
      <p:sp>
        <p:nvSpPr>
          <p:cNvPr id="10" name="TextBox 9">
            <a:extLst>
              <a:ext uri="{FF2B5EF4-FFF2-40B4-BE49-F238E27FC236}">
                <a16:creationId xmlns:a16="http://schemas.microsoft.com/office/drawing/2014/main" id="{168FDED8-F293-72D5-D07E-696D280077F6}"/>
              </a:ext>
            </a:extLst>
          </p:cNvPr>
          <p:cNvSpPr txBox="1"/>
          <p:nvPr/>
        </p:nvSpPr>
        <p:spPr>
          <a:xfrm>
            <a:off x="4747727" y="189781"/>
            <a:ext cx="4344514" cy="5355312"/>
          </a:xfrm>
          <a:prstGeom prst="rect">
            <a:avLst/>
          </a:prstGeom>
          <a:noFill/>
        </p:spPr>
        <p:txBody>
          <a:bodyPr wrap="square">
            <a:spAutoFit/>
          </a:bodyPr>
          <a:lstStyle/>
          <a:p>
            <a:r>
              <a:rPr lang="en-US" dirty="0"/>
              <a:t>The Cross Cutting Concerns of the Document Upload Portal represent the common architectural capabilities that are applied across all application layers to ensure security, scalability, reliability, maintainability, and operational efficiency. </a:t>
            </a:r>
          </a:p>
          <a:p>
            <a:endParaRPr lang="en-US" dirty="0"/>
          </a:p>
          <a:p>
            <a:r>
              <a:rPr lang="en-US" dirty="0"/>
              <a:t>These concerns include JWT-based authentication, RBAC authorization, API Key validation, HTTPS secure communication, centralized logging, monitoring, exception handling, configuration management, and performance optimization. </a:t>
            </a:r>
          </a:p>
          <a:p>
            <a:endParaRPr lang="en-US" dirty="0"/>
          </a:p>
          <a:p>
            <a:r>
              <a:rPr lang="en-US" dirty="0"/>
              <a:t>Implementing these shared services across the UI, API, Business, Data, and Storage layers ensures a secure, modular, cloud-native, and enterprise-grade architecture aligned with Azure best practices.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49728" cy="523220"/>
          </a:xfrm>
          <a:prstGeom prst="rect">
            <a:avLst/>
          </a:prstGeom>
          <a:noFill/>
        </p:spPr>
        <p:txBody>
          <a:bodyPr wrap="square">
            <a:spAutoFit/>
          </a:bodyPr>
          <a:lstStyle/>
          <a:p>
            <a:pPr>
              <a:defRPr sz="2800" b="1">
                <a:solidFill>
                  <a:srgbClr val="003366"/>
                </a:solidFill>
              </a:defRPr>
            </a:pPr>
            <a:r>
              <a:t>Architecture Design</a:t>
            </a:r>
          </a:p>
        </p:txBody>
      </p:sp>
      <p:sp>
        <p:nvSpPr>
          <p:cNvPr id="3" name="Rectangle 2"/>
          <p:cNvSpPr/>
          <p:nvPr/>
        </p:nvSpPr>
        <p:spPr>
          <a:xfrm>
            <a:off x="457200" y="914400"/>
            <a:ext cx="8206740"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itle 4">
            <a:extLst>
              <a:ext uri="{FF2B5EF4-FFF2-40B4-BE49-F238E27FC236}">
                <a16:creationId xmlns:a16="http://schemas.microsoft.com/office/drawing/2014/main" id="{629EFAF6-6EC6-D633-A949-F85172F6126E}"/>
              </a:ext>
            </a:extLst>
          </p:cNvPr>
          <p:cNvSpPr>
            <a:spLocks noGrp="1"/>
          </p:cNvSpPr>
          <p:nvPr>
            <p:ph type="title"/>
          </p:nvPr>
        </p:nvSpPr>
        <p:spPr>
          <a:xfrm>
            <a:off x="640703" y="1114046"/>
            <a:ext cx="3290594" cy="1141497"/>
          </a:xfrm>
        </p:spPr>
        <p:txBody>
          <a:bodyPr/>
          <a:lstStyle/>
          <a:p>
            <a:r>
              <a:rPr lang="en-US" dirty="0"/>
              <a:t>Diagrams</a:t>
            </a:r>
            <a:endParaRPr lang="en-IN" dirty="0"/>
          </a:p>
        </p:txBody>
      </p:sp>
      <p:sp>
        <p:nvSpPr>
          <p:cNvPr id="6" name="Content Placeholder 5">
            <a:extLst>
              <a:ext uri="{FF2B5EF4-FFF2-40B4-BE49-F238E27FC236}">
                <a16:creationId xmlns:a16="http://schemas.microsoft.com/office/drawing/2014/main" id="{1BBCBB65-2874-E898-40B1-7D2822A68C65}"/>
              </a:ext>
            </a:extLst>
          </p:cNvPr>
          <p:cNvSpPr>
            <a:spLocks noGrp="1"/>
          </p:cNvSpPr>
          <p:nvPr>
            <p:ph idx="1"/>
          </p:nvPr>
        </p:nvSpPr>
        <p:spPr>
          <a:xfrm>
            <a:off x="5052060" y="1060704"/>
            <a:ext cx="3611880" cy="5455114"/>
          </a:xfrm>
        </p:spPr>
        <p:txBody>
          <a:bodyPr>
            <a:normAutofit fontScale="77500" lnSpcReduction="20000"/>
          </a:bodyPr>
          <a:lstStyle/>
          <a:p>
            <a:r>
              <a:rPr lang="en-US" dirty="0"/>
              <a:t>The Architecture Design of the Document Upload Portal illustrates the end-to-end enterprise solution structure, showcasing how different architectural components interact to deliver secure, scalable, and efficient image upload and preview capabilities. The design follows a layered Azure-based architecture with clear separation of Presentation, API, Security, Business Processing, Data, and Storage layers to ensure modularity, maintainability, and cloud readiness.</a:t>
            </a:r>
          </a:p>
          <a:p>
            <a:r>
              <a:rPr lang="en-US" b="1" dirty="0"/>
              <a:t>Application Architecture Diagram</a:t>
            </a:r>
            <a:r>
              <a:rPr lang="en-US" dirty="0"/>
              <a:t> represents the logical interaction between the Web Application, Web API, processing services, Azure SQL Database, Azure Key Vault, and local image storage. </a:t>
            </a:r>
          </a:p>
          <a:p>
            <a:r>
              <a:rPr lang="en-US" b="1" dirty="0"/>
              <a:t>Deployment Architecture Diagram</a:t>
            </a:r>
            <a:r>
              <a:rPr lang="en-US" dirty="0"/>
              <a:t> illustrates the Azure cloud deployment model, infrastructure components, hosting services, networking, monitoring, and security integration. </a:t>
            </a:r>
          </a:p>
          <a:p>
            <a:r>
              <a:rPr lang="en-US" b="1" dirty="0"/>
              <a:t>High Level Design (HLD)</a:t>
            </a:r>
            <a:r>
              <a:rPr lang="en-US" dirty="0"/>
              <a:t> provides a simplified enterprise-level view of the overall system architecture, major layers, data flow, and security flow.</a:t>
            </a:r>
          </a:p>
          <a:p>
            <a:endParaRPr lang="en-IN" dirty="0"/>
          </a:p>
        </p:txBody>
      </p:sp>
      <p:sp>
        <p:nvSpPr>
          <p:cNvPr id="7" name="Text Placeholder 6">
            <a:extLst>
              <a:ext uri="{FF2B5EF4-FFF2-40B4-BE49-F238E27FC236}">
                <a16:creationId xmlns:a16="http://schemas.microsoft.com/office/drawing/2014/main" id="{914E15A2-5EA8-5D77-E66F-51F61C0CC876}"/>
              </a:ext>
            </a:extLst>
          </p:cNvPr>
          <p:cNvSpPr>
            <a:spLocks noGrp="1"/>
          </p:cNvSpPr>
          <p:nvPr>
            <p:ph type="body" sz="half" idx="2"/>
          </p:nvPr>
        </p:nvSpPr>
        <p:spPr>
          <a:xfrm>
            <a:off x="174876" y="2532472"/>
            <a:ext cx="4333864" cy="3017187"/>
          </a:xfrm>
        </p:spPr>
        <p:txBody>
          <a:bodyPr>
            <a:normAutofit/>
          </a:bodyPr>
          <a:lstStyle/>
          <a:p>
            <a:pPr algn="l">
              <a:defRPr sz="2000">
                <a:solidFill>
                  <a:srgbClr val="3C3C3C"/>
                </a:solidFill>
              </a:defRPr>
            </a:pPr>
            <a:r>
              <a:rPr lang="en-US" sz="2500" b="1" dirty="0"/>
              <a:t>Application Architecture Diagram</a:t>
            </a:r>
          </a:p>
          <a:p>
            <a:pPr algn="l">
              <a:defRPr sz="2000">
                <a:solidFill>
                  <a:srgbClr val="3C3C3C"/>
                </a:solidFill>
              </a:defRPr>
            </a:pPr>
            <a:r>
              <a:rPr lang="en-US" sz="2500" b="1" dirty="0"/>
              <a:t>Deployment Architecture Diagram</a:t>
            </a:r>
          </a:p>
          <a:p>
            <a:pPr algn="l">
              <a:defRPr sz="2000">
                <a:solidFill>
                  <a:srgbClr val="3C3C3C"/>
                </a:solidFill>
              </a:defRPr>
            </a:pPr>
            <a:r>
              <a:rPr lang="en-US" sz="2500" b="1" dirty="0"/>
              <a:t>High Level Design</a:t>
            </a:r>
          </a:p>
          <a:p>
            <a:pPr algn="l"/>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3219-92CE-3A03-4923-C7391CBDC1DE}"/>
              </a:ext>
            </a:extLst>
          </p:cNvPr>
          <p:cNvSpPr>
            <a:spLocks noGrp="1"/>
          </p:cNvSpPr>
          <p:nvPr>
            <p:ph type="title"/>
          </p:nvPr>
        </p:nvSpPr>
        <p:spPr>
          <a:xfrm>
            <a:off x="830869" y="2487045"/>
            <a:ext cx="3453584" cy="1883910"/>
          </a:xfrm>
        </p:spPr>
        <p:txBody>
          <a:bodyPr>
            <a:normAutofit fontScale="90000"/>
          </a:bodyPr>
          <a:lstStyle/>
          <a:p>
            <a:pPr algn="l">
              <a:defRPr sz="2000">
                <a:solidFill>
                  <a:srgbClr val="3C3C3C"/>
                </a:solidFill>
              </a:defRPr>
            </a:pPr>
            <a:r>
              <a:rPr lang="en-US" sz="1800" b="1" dirty="0"/>
              <a:t>Low Level Design</a:t>
            </a:r>
            <a:br>
              <a:rPr lang="en-US" sz="1800" b="1" dirty="0"/>
            </a:br>
            <a:br>
              <a:rPr lang="en-US" sz="1800" b="1" dirty="0"/>
            </a:br>
            <a:r>
              <a:rPr lang="en-US" sz="1400" b="1" dirty="0"/>
              <a:t>Class Diagram</a:t>
            </a:r>
            <a:br>
              <a:rPr lang="en-US" sz="1400" b="1" dirty="0"/>
            </a:br>
            <a:r>
              <a:rPr lang="en-US" sz="1400" b="1" dirty="0"/>
              <a:t>Component Diagram</a:t>
            </a:r>
            <a:br>
              <a:rPr lang="en-US" sz="1400" b="1" dirty="0"/>
            </a:br>
            <a:r>
              <a:rPr lang="en-US" sz="1400" b="1" dirty="0"/>
              <a:t>Sequence Diagram</a:t>
            </a:r>
            <a:br>
              <a:rPr lang="en-US" sz="1400" b="1" dirty="0"/>
            </a:br>
            <a:r>
              <a:rPr lang="en-US" sz="1400" b="1" dirty="0"/>
              <a:t>E-R Diagram</a:t>
            </a:r>
            <a:br>
              <a:rPr lang="en-US" sz="2400" b="1" dirty="0"/>
            </a:br>
            <a:endParaRPr lang="en-IN" dirty="0"/>
          </a:p>
        </p:txBody>
      </p:sp>
      <p:sp>
        <p:nvSpPr>
          <p:cNvPr id="3" name="Content Placeholder 2">
            <a:extLst>
              <a:ext uri="{FF2B5EF4-FFF2-40B4-BE49-F238E27FC236}">
                <a16:creationId xmlns:a16="http://schemas.microsoft.com/office/drawing/2014/main" id="{CB9EAF00-86FE-9907-A03B-ED1D704FFEDF}"/>
              </a:ext>
            </a:extLst>
          </p:cNvPr>
          <p:cNvSpPr>
            <a:spLocks noGrp="1"/>
          </p:cNvSpPr>
          <p:nvPr>
            <p:ph idx="1"/>
          </p:nvPr>
        </p:nvSpPr>
        <p:spPr/>
        <p:txBody>
          <a:bodyPr>
            <a:normAutofit/>
          </a:bodyPr>
          <a:lstStyle/>
          <a:p>
            <a:r>
              <a:rPr lang="en-US" sz="1400" b="1" dirty="0"/>
              <a:t>Low Level Design (LLD)</a:t>
            </a:r>
            <a:r>
              <a:rPr lang="en-US" sz="1400" dirty="0"/>
              <a:t> explains the detailed internal implementation, component interaction, processing flow, and technical design specifications.</a:t>
            </a:r>
          </a:p>
          <a:p>
            <a:r>
              <a:rPr lang="en-US" sz="1400" b="1" dirty="0"/>
              <a:t>Class Diagram</a:t>
            </a:r>
            <a:r>
              <a:rPr lang="en-US" sz="1400" dirty="0"/>
              <a:t> represents object-oriented design, core classes, attributes, methods, and relationships across the system.</a:t>
            </a:r>
          </a:p>
          <a:p>
            <a:r>
              <a:rPr lang="en-US" sz="1400" b="1" dirty="0"/>
              <a:t>Component Diagram</a:t>
            </a:r>
            <a:r>
              <a:rPr lang="en-US" sz="1400" dirty="0"/>
              <a:t> illustrates modular components, service dependencies, interfaces, and communication flow between architectural layers.</a:t>
            </a:r>
          </a:p>
          <a:p>
            <a:r>
              <a:rPr lang="en-US" sz="1400" b="1" dirty="0"/>
              <a:t>Sequence Diagram</a:t>
            </a:r>
            <a:r>
              <a:rPr lang="en-US" sz="1400" dirty="0"/>
              <a:t> shows the step-by-step runtime interaction flow between UI, API, security services, business services, storage, and database components during image upload and preview operations.</a:t>
            </a:r>
          </a:p>
          <a:p>
            <a:r>
              <a:rPr lang="en-US" sz="1400" b="1" dirty="0"/>
              <a:t>E-R Diagram</a:t>
            </a:r>
            <a:r>
              <a:rPr lang="en-US" sz="1400" dirty="0"/>
              <a:t> defines the database entity relationships and metadata structure used for secure image information storage and retrieval within Azure SQL Database.</a:t>
            </a:r>
            <a:endParaRPr lang="en-IN" sz="1400" dirty="0"/>
          </a:p>
        </p:txBody>
      </p:sp>
      <p:sp>
        <p:nvSpPr>
          <p:cNvPr id="4" name="TextBox 3">
            <a:extLst>
              <a:ext uri="{FF2B5EF4-FFF2-40B4-BE49-F238E27FC236}">
                <a16:creationId xmlns:a16="http://schemas.microsoft.com/office/drawing/2014/main" id="{F3DB1C5A-3834-4F38-227F-9C51BA3669D7}"/>
              </a:ext>
            </a:extLst>
          </p:cNvPr>
          <p:cNvSpPr txBox="1"/>
          <p:nvPr/>
        </p:nvSpPr>
        <p:spPr>
          <a:xfrm>
            <a:off x="468630" y="32780"/>
            <a:ext cx="8249728" cy="523220"/>
          </a:xfrm>
          <a:prstGeom prst="rect">
            <a:avLst/>
          </a:prstGeom>
          <a:noFill/>
        </p:spPr>
        <p:txBody>
          <a:bodyPr wrap="square">
            <a:spAutoFit/>
          </a:bodyPr>
          <a:lstStyle/>
          <a:p>
            <a:pPr>
              <a:defRPr sz="2800" b="1">
                <a:solidFill>
                  <a:srgbClr val="003366"/>
                </a:solidFill>
              </a:defRPr>
            </a:pPr>
            <a:r>
              <a:t>Architecture Design</a:t>
            </a:r>
          </a:p>
        </p:txBody>
      </p:sp>
      <p:sp>
        <p:nvSpPr>
          <p:cNvPr id="5" name="Rectangle 4">
            <a:extLst>
              <a:ext uri="{FF2B5EF4-FFF2-40B4-BE49-F238E27FC236}">
                <a16:creationId xmlns:a16="http://schemas.microsoft.com/office/drawing/2014/main" id="{71B47F63-B732-2FFE-2C2A-209B40F436DF}"/>
              </a:ext>
            </a:extLst>
          </p:cNvPr>
          <p:cNvSpPr/>
          <p:nvPr/>
        </p:nvSpPr>
        <p:spPr>
          <a:xfrm>
            <a:off x="468630" y="672860"/>
            <a:ext cx="8206740"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56938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Technology Stack</a:t>
            </a:r>
          </a:p>
        </p:txBody>
      </p:sp>
      <p:sp>
        <p:nvSpPr>
          <p:cNvPr id="3" name="Rectangle 2"/>
          <p:cNvSpPr/>
          <p:nvPr/>
        </p:nvSpPr>
        <p:spPr>
          <a:xfrm>
            <a:off x="457200" y="914400"/>
            <a:ext cx="8387751" cy="73152"/>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6">
            <a:extLst>
              <a:ext uri="{FF2B5EF4-FFF2-40B4-BE49-F238E27FC236}">
                <a16:creationId xmlns:a16="http://schemas.microsoft.com/office/drawing/2014/main" id="{E7B4C2EA-A889-D2B7-1B18-44AFD76362D9}"/>
              </a:ext>
            </a:extLst>
          </p:cNvPr>
          <p:cNvSpPr/>
          <p:nvPr/>
        </p:nvSpPr>
        <p:spPr>
          <a:xfrm>
            <a:off x="457200" y="1339970"/>
            <a:ext cx="3896264" cy="868680"/>
          </a:xfrm>
          <a:prstGeom prst="roundRect">
            <a:avLst/>
          </a:prstGeom>
          <a:solidFill>
            <a:srgbClr val="F8FAFD"/>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E04E3EDE-8DEF-D87B-4FA5-F172FE07068A}"/>
              </a:ext>
            </a:extLst>
          </p:cNvPr>
          <p:cNvSpPr/>
          <p:nvPr/>
        </p:nvSpPr>
        <p:spPr>
          <a:xfrm>
            <a:off x="457200" y="1339970"/>
            <a:ext cx="3896264" cy="9144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858B1A8-49B4-1936-4CC1-032EFD5109B3}"/>
              </a:ext>
            </a:extLst>
          </p:cNvPr>
          <p:cNvSpPr txBox="1"/>
          <p:nvPr/>
        </p:nvSpPr>
        <p:spPr>
          <a:xfrm>
            <a:off x="621792" y="1596002"/>
            <a:ext cx="2440605" cy="584775"/>
          </a:xfrm>
          <a:prstGeom prst="rect">
            <a:avLst/>
          </a:prstGeom>
          <a:noFill/>
        </p:spPr>
        <p:txBody>
          <a:bodyPr wrap="none">
            <a:spAutoFit/>
          </a:bodyPr>
          <a:lstStyle/>
          <a:p>
            <a:pPr>
              <a:defRPr sz="1600" b="1">
                <a:solidFill>
                  <a:srgbClr val="464646"/>
                </a:solidFill>
              </a:defRPr>
            </a:pPr>
            <a:r>
              <a:rPr lang="nl-NL" dirty="0"/>
              <a:t>.NET 8 / ASP.NET Core</a:t>
            </a:r>
          </a:p>
          <a:p>
            <a:pPr>
              <a:defRPr sz="1600" b="1">
                <a:solidFill>
                  <a:srgbClr val="464646"/>
                </a:solidFill>
              </a:defRPr>
            </a:pPr>
            <a:endParaRPr dirty="0"/>
          </a:p>
        </p:txBody>
      </p:sp>
      <p:sp>
        <p:nvSpPr>
          <p:cNvPr id="8" name="Rounded Rectangle 12">
            <a:extLst>
              <a:ext uri="{FF2B5EF4-FFF2-40B4-BE49-F238E27FC236}">
                <a16:creationId xmlns:a16="http://schemas.microsoft.com/office/drawing/2014/main" id="{16197B80-C19E-89E7-5469-8B24D972173C}"/>
              </a:ext>
            </a:extLst>
          </p:cNvPr>
          <p:cNvSpPr/>
          <p:nvPr/>
        </p:nvSpPr>
        <p:spPr>
          <a:xfrm>
            <a:off x="457200" y="2561068"/>
            <a:ext cx="3896264" cy="868680"/>
          </a:xfrm>
          <a:prstGeom prst="roundRect">
            <a:avLst/>
          </a:prstGeom>
          <a:solidFill>
            <a:srgbClr val="F8FAFD"/>
          </a:solidFill>
          <a:ln>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CF4F9E66-325C-966B-EC36-A222F8AF5B76}"/>
              </a:ext>
            </a:extLst>
          </p:cNvPr>
          <p:cNvSpPr/>
          <p:nvPr/>
        </p:nvSpPr>
        <p:spPr>
          <a:xfrm>
            <a:off x="457200" y="2561068"/>
            <a:ext cx="3896264" cy="73152"/>
          </a:xfrm>
          <a:prstGeom prst="rect">
            <a:avLst/>
          </a:prstGeom>
          <a:solidFill>
            <a:srgbClr val="FF8C00"/>
          </a:solidFill>
          <a:ln>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0982F371-0985-583B-C28D-7C1D1130CF3A}"/>
              </a:ext>
            </a:extLst>
          </p:cNvPr>
          <p:cNvSpPr txBox="1"/>
          <p:nvPr/>
        </p:nvSpPr>
        <p:spPr>
          <a:xfrm>
            <a:off x="621792" y="2817100"/>
            <a:ext cx="3518887" cy="338554"/>
          </a:xfrm>
          <a:prstGeom prst="rect">
            <a:avLst/>
          </a:prstGeom>
          <a:noFill/>
        </p:spPr>
        <p:txBody>
          <a:bodyPr wrap="square">
            <a:spAutoFit/>
          </a:bodyPr>
          <a:lstStyle/>
          <a:p>
            <a:pPr>
              <a:defRPr sz="1600" b="1">
                <a:solidFill>
                  <a:srgbClr val="464646"/>
                </a:solidFill>
              </a:defRPr>
            </a:pPr>
            <a:r>
              <a:t>Azure SQL Database</a:t>
            </a:r>
          </a:p>
        </p:txBody>
      </p:sp>
      <p:sp>
        <p:nvSpPr>
          <p:cNvPr id="11" name="Rounded Rectangle 18">
            <a:extLst>
              <a:ext uri="{FF2B5EF4-FFF2-40B4-BE49-F238E27FC236}">
                <a16:creationId xmlns:a16="http://schemas.microsoft.com/office/drawing/2014/main" id="{D8D72A1D-54B4-688D-548E-92BB65990EDF}"/>
              </a:ext>
            </a:extLst>
          </p:cNvPr>
          <p:cNvSpPr/>
          <p:nvPr/>
        </p:nvSpPr>
        <p:spPr>
          <a:xfrm>
            <a:off x="457200" y="3817994"/>
            <a:ext cx="3896264" cy="868680"/>
          </a:xfrm>
          <a:prstGeom prst="roundRect">
            <a:avLst/>
          </a:prstGeom>
          <a:solidFill>
            <a:srgbClr val="F8FAFD"/>
          </a:solidFill>
          <a:ln>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9D65E6C3-D1FE-0FC7-E720-09D18BF2A67B}"/>
              </a:ext>
            </a:extLst>
          </p:cNvPr>
          <p:cNvSpPr/>
          <p:nvPr/>
        </p:nvSpPr>
        <p:spPr>
          <a:xfrm>
            <a:off x="457200" y="3817994"/>
            <a:ext cx="3896264" cy="128016"/>
          </a:xfrm>
          <a:prstGeom prst="rect">
            <a:avLst/>
          </a:prstGeom>
          <a:solidFill>
            <a:srgbClr val="009688"/>
          </a:solidFill>
          <a:ln>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5F85B0A-0D18-1829-8F71-32B970D044E1}"/>
              </a:ext>
            </a:extLst>
          </p:cNvPr>
          <p:cNvSpPr txBox="1"/>
          <p:nvPr/>
        </p:nvSpPr>
        <p:spPr>
          <a:xfrm>
            <a:off x="621792" y="4074026"/>
            <a:ext cx="4297680" cy="320040"/>
          </a:xfrm>
          <a:prstGeom prst="rect">
            <a:avLst/>
          </a:prstGeom>
          <a:noFill/>
        </p:spPr>
        <p:txBody>
          <a:bodyPr wrap="none">
            <a:spAutoFit/>
          </a:bodyPr>
          <a:lstStyle/>
          <a:p>
            <a:pPr>
              <a:defRPr sz="1600" b="1">
                <a:solidFill>
                  <a:srgbClr val="464646"/>
                </a:solidFill>
              </a:defRPr>
            </a:pPr>
            <a:r>
              <a:t>Azure Monitor &amp; Application Insights</a:t>
            </a:r>
          </a:p>
        </p:txBody>
      </p:sp>
      <p:sp>
        <p:nvSpPr>
          <p:cNvPr id="16" name="Rounded Rectangle 9">
            <a:extLst>
              <a:ext uri="{FF2B5EF4-FFF2-40B4-BE49-F238E27FC236}">
                <a16:creationId xmlns:a16="http://schemas.microsoft.com/office/drawing/2014/main" id="{6B4B9841-B7F5-DAE3-00E7-429B991CBAF3}"/>
              </a:ext>
            </a:extLst>
          </p:cNvPr>
          <p:cNvSpPr/>
          <p:nvPr/>
        </p:nvSpPr>
        <p:spPr>
          <a:xfrm>
            <a:off x="4848046" y="1339970"/>
            <a:ext cx="3996906" cy="868680"/>
          </a:xfrm>
          <a:prstGeom prst="roundRect">
            <a:avLst/>
          </a:prstGeom>
          <a:solidFill>
            <a:srgbClr val="F8FAFD"/>
          </a:solidFill>
          <a:ln>
            <a:solidFill>
              <a:srgbClr val="107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EA4E4A42-1B2F-F7A6-44AE-C1409F0C9281}"/>
              </a:ext>
            </a:extLst>
          </p:cNvPr>
          <p:cNvSpPr/>
          <p:nvPr/>
        </p:nvSpPr>
        <p:spPr>
          <a:xfrm>
            <a:off x="4848046" y="1339970"/>
            <a:ext cx="3996905" cy="91440"/>
          </a:xfrm>
          <a:prstGeom prst="rect">
            <a:avLst/>
          </a:prstGeom>
          <a:solidFill>
            <a:srgbClr val="107C10"/>
          </a:solidFill>
          <a:ln>
            <a:solidFill>
              <a:srgbClr val="107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7D2B663E-13C3-435B-3645-16F1153BA12E}"/>
              </a:ext>
            </a:extLst>
          </p:cNvPr>
          <p:cNvSpPr txBox="1"/>
          <p:nvPr/>
        </p:nvSpPr>
        <p:spPr>
          <a:xfrm>
            <a:off x="4919472" y="1596002"/>
            <a:ext cx="3840322" cy="584775"/>
          </a:xfrm>
          <a:prstGeom prst="rect">
            <a:avLst/>
          </a:prstGeom>
          <a:noFill/>
        </p:spPr>
        <p:txBody>
          <a:bodyPr wrap="square">
            <a:spAutoFit/>
          </a:bodyPr>
          <a:lstStyle/>
          <a:p>
            <a:pPr>
              <a:defRPr sz="1600" b="1">
                <a:solidFill>
                  <a:srgbClr val="464646"/>
                </a:solidFill>
              </a:defRPr>
            </a:pPr>
            <a:r>
              <a:rPr lang="en-IN" dirty="0"/>
              <a:t>Azure App Service</a:t>
            </a:r>
          </a:p>
          <a:p>
            <a:pPr>
              <a:defRPr sz="1600" b="1">
                <a:solidFill>
                  <a:srgbClr val="464646"/>
                </a:solidFill>
              </a:defRPr>
            </a:pPr>
            <a:endParaRPr dirty="0"/>
          </a:p>
        </p:txBody>
      </p:sp>
      <p:sp>
        <p:nvSpPr>
          <p:cNvPr id="19" name="Rounded Rectangle 15">
            <a:extLst>
              <a:ext uri="{FF2B5EF4-FFF2-40B4-BE49-F238E27FC236}">
                <a16:creationId xmlns:a16="http://schemas.microsoft.com/office/drawing/2014/main" id="{8483DD57-0994-5FB3-92BE-865466711DFA}"/>
              </a:ext>
            </a:extLst>
          </p:cNvPr>
          <p:cNvSpPr/>
          <p:nvPr/>
        </p:nvSpPr>
        <p:spPr>
          <a:xfrm>
            <a:off x="4848046" y="2560320"/>
            <a:ext cx="3996905" cy="868680"/>
          </a:xfrm>
          <a:prstGeom prst="roundRect">
            <a:avLst/>
          </a:prstGeom>
          <a:solidFill>
            <a:srgbClr val="F8FAFD"/>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41946C5C-048C-2445-45BA-5A1B42436DE9}"/>
              </a:ext>
            </a:extLst>
          </p:cNvPr>
          <p:cNvSpPr/>
          <p:nvPr/>
        </p:nvSpPr>
        <p:spPr>
          <a:xfrm>
            <a:off x="4807790" y="2561068"/>
            <a:ext cx="4037162" cy="12726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571C8E92-E028-DCE3-ADC7-C78FB03D19FC}"/>
              </a:ext>
            </a:extLst>
          </p:cNvPr>
          <p:cNvSpPr txBox="1"/>
          <p:nvPr/>
        </p:nvSpPr>
        <p:spPr>
          <a:xfrm>
            <a:off x="4919472" y="2816352"/>
            <a:ext cx="3840322" cy="338554"/>
          </a:xfrm>
          <a:prstGeom prst="rect">
            <a:avLst/>
          </a:prstGeom>
          <a:noFill/>
        </p:spPr>
        <p:txBody>
          <a:bodyPr wrap="square">
            <a:spAutoFit/>
          </a:bodyPr>
          <a:lstStyle/>
          <a:p>
            <a:pPr>
              <a:defRPr sz="1600" b="1">
                <a:solidFill>
                  <a:srgbClr val="464646"/>
                </a:solidFill>
              </a:defRPr>
            </a:pPr>
            <a:r>
              <a:rPr dirty="0"/>
              <a:t>Azure Key Vault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40738623-9934-3EEC-FF44-D3DFD87E05D0}"/>
              </a:ext>
            </a:extLst>
          </p:cNvPr>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Scalability Strategy</a:t>
            </a:r>
          </a:p>
        </p:txBody>
      </p:sp>
      <p:sp>
        <p:nvSpPr>
          <p:cNvPr id="23" name="Rectangle 22">
            <a:extLst>
              <a:ext uri="{FF2B5EF4-FFF2-40B4-BE49-F238E27FC236}">
                <a16:creationId xmlns:a16="http://schemas.microsoft.com/office/drawing/2014/main" id="{2B417CCF-FEF4-2B0B-4670-A1FA3C3737F4}"/>
              </a:ext>
            </a:extLst>
          </p:cNvPr>
          <p:cNvSpPr/>
          <p:nvPr/>
        </p:nvSpPr>
        <p:spPr>
          <a:xfrm flipV="1">
            <a:off x="457200" y="855338"/>
            <a:ext cx="8456762" cy="59062"/>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6">
            <a:extLst>
              <a:ext uri="{FF2B5EF4-FFF2-40B4-BE49-F238E27FC236}">
                <a16:creationId xmlns:a16="http://schemas.microsoft.com/office/drawing/2014/main" id="{16C94313-B998-7F8B-1D41-321254C5B4AF}"/>
              </a:ext>
            </a:extLst>
          </p:cNvPr>
          <p:cNvSpPr/>
          <p:nvPr/>
        </p:nvSpPr>
        <p:spPr>
          <a:xfrm>
            <a:off x="457200" y="1339970"/>
            <a:ext cx="3896264" cy="868680"/>
          </a:xfrm>
          <a:prstGeom prst="roundRect">
            <a:avLst/>
          </a:prstGeom>
          <a:solidFill>
            <a:srgbClr val="F8FAFD"/>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68F3042E-AFD7-2935-C590-A19951395DBC}"/>
              </a:ext>
            </a:extLst>
          </p:cNvPr>
          <p:cNvSpPr/>
          <p:nvPr/>
        </p:nvSpPr>
        <p:spPr>
          <a:xfrm>
            <a:off x="457200" y="1339970"/>
            <a:ext cx="3896264" cy="91440"/>
          </a:xfrm>
          <a:prstGeom prst="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05FBBDF3-5D31-CBF1-B847-06ED1286C7B8}"/>
              </a:ext>
            </a:extLst>
          </p:cNvPr>
          <p:cNvSpPr txBox="1"/>
          <p:nvPr/>
        </p:nvSpPr>
        <p:spPr>
          <a:xfrm>
            <a:off x="621792" y="1596002"/>
            <a:ext cx="3593650" cy="830997"/>
          </a:xfrm>
          <a:prstGeom prst="rect">
            <a:avLst/>
          </a:prstGeom>
          <a:noFill/>
        </p:spPr>
        <p:txBody>
          <a:bodyPr wrap="square">
            <a:spAutoFit/>
          </a:bodyPr>
          <a:lstStyle/>
          <a:p>
            <a:pPr>
              <a:defRPr sz="1600" b="1">
                <a:solidFill>
                  <a:srgbClr val="464646"/>
                </a:solidFill>
              </a:defRPr>
            </a:pPr>
            <a:r>
              <a:rPr lang="en-IN" dirty="0"/>
              <a:t>AKS-based container orchestration</a:t>
            </a:r>
          </a:p>
          <a:p>
            <a:pPr>
              <a:defRPr sz="1600" b="1">
                <a:solidFill>
                  <a:srgbClr val="464646"/>
                </a:solidFill>
              </a:defRPr>
            </a:pPr>
            <a:endParaRPr lang="nl-NL" dirty="0"/>
          </a:p>
          <a:p>
            <a:pPr>
              <a:defRPr sz="1600" b="1">
                <a:solidFill>
                  <a:srgbClr val="464646"/>
                </a:solidFill>
              </a:defRPr>
            </a:pPr>
            <a:endParaRPr dirty="0"/>
          </a:p>
        </p:txBody>
      </p:sp>
      <p:sp>
        <p:nvSpPr>
          <p:cNvPr id="27" name="Rounded Rectangle 9">
            <a:extLst>
              <a:ext uri="{FF2B5EF4-FFF2-40B4-BE49-F238E27FC236}">
                <a16:creationId xmlns:a16="http://schemas.microsoft.com/office/drawing/2014/main" id="{2844D3BE-259E-741E-A13E-C4E2AF655F7F}"/>
              </a:ext>
            </a:extLst>
          </p:cNvPr>
          <p:cNvSpPr/>
          <p:nvPr/>
        </p:nvSpPr>
        <p:spPr>
          <a:xfrm>
            <a:off x="4848046" y="1339970"/>
            <a:ext cx="3996906" cy="868680"/>
          </a:xfrm>
          <a:prstGeom prst="roundRect">
            <a:avLst/>
          </a:prstGeom>
          <a:solidFill>
            <a:srgbClr val="F8FAFD"/>
          </a:solidFill>
          <a:ln>
            <a:solidFill>
              <a:srgbClr val="107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90B47021-93BD-1D91-3490-A6E28E0A35D0}"/>
              </a:ext>
            </a:extLst>
          </p:cNvPr>
          <p:cNvSpPr/>
          <p:nvPr/>
        </p:nvSpPr>
        <p:spPr>
          <a:xfrm>
            <a:off x="4848046" y="1339970"/>
            <a:ext cx="3996905" cy="91440"/>
          </a:xfrm>
          <a:prstGeom prst="rect">
            <a:avLst/>
          </a:prstGeom>
          <a:solidFill>
            <a:srgbClr val="107C10"/>
          </a:solidFill>
          <a:ln>
            <a:solidFill>
              <a:srgbClr val="107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2849380E-BB84-4638-4297-F601A9F46B45}"/>
              </a:ext>
            </a:extLst>
          </p:cNvPr>
          <p:cNvSpPr txBox="1"/>
          <p:nvPr/>
        </p:nvSpPr>
        <p:spPr>
          <a:xfrm>
            <a:off x="4919472" y="1596002"/>
            <a:ext cx="3840322" cy="830997"/>
          </a:xfrm>
          <a:prstGeom prst="rect">
            <a:avLst/>
          </a:prstGeom>
          <a:noFill/>
        </p:spPr>
        <p:txBody>
          <a:bodyPr wrap="square">
            <a:spAutoFit/>
          </a:bodyPr>
          <a:lstStyle/>
          <a:p>
            <a:pPr>
              <a:defRPr sz="1600" b="1">
                <a:solidFill>
                  <a:srgbClr val="464646"/>
                </a:solidFill>
              </a:defRPr>
            </a:pPr>
            <a:r>
              <a:rPr lang="en-US" dirty="0"/>
              <a:t>Horizontal scaling of API services</a:t>
            </a:r>
          </a:p>
          <a:p>
            <a:pPr>
              <a:defRPr sz="1600" b="1">
                <a:solidFill>
                  <a:srgbClr val="464646"/>
                </a:solidFill>
              </a:defRPr>
            </a:pPr>
            <a:endParaRPr lang="en-IN" dirty="0"/>
          </a:p>
          <a:p>
            <a:pPr>
              <a:defRPr sz="1600" b="1">
                <a:solidFill>
                  <a:srgbClr val="464646"/>
                </a:solidFill>
              </a:defRPr>
            </a:pPr>
            <a:endParaRPr dirty="0"/>
          </a:p>
        </p:txBody>
      </p:sp>
      <p:sp>
        <p:nvSpPr>
          <p:cNvPr id="30" name="Rounded Rectangle 12">
            <a:extLst>
              <a:ext uri="{FF2B5EF4-FFF2-40B4-BE49-F238E27FC236}">
                <a16:creationId xmlns:a16="http://schemas.microsoft.com/office/drawing/2014/main" id="{980A1DF8-E4C9-A6DB-A3E8-50CC7D0706F7}"/>
              </a:ext>
            </a:extLst>
          </p:cNvPr>
          <p:cNvSpPr/>
          <p:nvPr/>
        </p:nvSpPr>
        <p:spPr>
          <a:xfrm>
            <a:off x="457200" y="4215011"/>
            <a:ext cx="3896264" cy="868680"/>
          </a:xfrm>
          <a:prstGeom prst="roundRect">
            <a:avLst/>
          </a:prstGeom>
          <a:solidFill>
            <a:srgbClr val="F8FAFD"/>
          </a:solidFill>
          <a:ln>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61BF473E-1C45-F293-E6A3-3B59EE0C0CD9}"/>
              </a:ext>
            </a:extLst>
          </p:cNvPr>
          <p:cNvSpPr/>
          <p:nvPr/>
        </p:nvSpPr>
        <p:spPr>
          <a:xfrm>
            <a:off x="457200" y="4215011"/>
            <a:ext cx="3896264" cy="73152"/>
          </a:xfrm>
          <a:prstGeom prst="rect">
            <a:avLst/>
          </a:prstGeom>
          <a:solidFill>
            <a:srgbClr val="FF8C00"/>
          </a:solidFill>
          <a:ln>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EFA0F636-981F-2030-250A-9DBA7D613C75}"/>
              </a:ext>
            </a:extLst>
          </p:cNvPr>
          <p:cNvSpPr txBox="1"/>
          <p:nvPr/>
        </p:nvSpPr>
        <p:spPr>
          <a:xfrm>
            <a:off x="621792" y="4471043"/>
            <a:ext cx="3518887" cy="338554"/>
          </a:xfrm>
          <a:prstGeom prst="rect">
            <a:avLst/>
          </a:prstGeom>
          <a:noFill/>
        </p:spPr>
        <p:txBody>
          <a:bodyPr wrap="square">
            <a:spAutoFit/>
          </a:bodyPr>
          <a:lstStyle/>
          <a:p>
            <a:pPr>
              <a:defRPr sz="1600" b="1">
                <a:solidFill>
                  <a:srgbClr val="464646"/>
                </a:solidFill>
              </a:defRPr>
            </a:pPr>
            <a:r>
              <a:rPr lang="en-US" dirty="0"/>
              <a:t>Azure SQL scaling and tuning</a:t>
            </a:r>
            <a:endParaRPr dirty="0"/>
          </a:p>
        </p:txBody>
      </p:sp>
      <p:sp>
        <p:nvSpPr>
          <p:cNvPr id="33" name="Rounded Rectangle 15">
            <a:extLst>
              <a:ext uri="{FF2B5EF4-FFF2-40B4-BE49-F238E27FC236}">
                <a16:creationId xmlns:a16="http://schemas.microsoft.com/office/drawing/2014/main" id="{70E15762-A713-80E7-833C-CEE6C0228E20}"/>
              </a:ext>
            </a:extLst>
          </p:cNvPr>
          <p:cNvSpPr/>
          <p:nvPr/>
        </p:nvSpPr>
        <p:spPr>
          <a:xfrm>
            <a:off x="4830794" y="4188154"/>
            <a:ext cx="3996905" cy="868680"/>
          </a:xfrm>
          <a:prstGeom prst="roundRect">
            <a:avLst/>
          </a:prstGeom>
          <a:solidFill>
            <a:srgbClr val="F8FAFD"/>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ABE017DA-6DB3-3CF9-7D0C-FD7835B20AF4}"/>
              </a:ext>
            </a:extLst>
          </p:cNvPr>
          <p:cNvSpPr/>
          <p:nvPr/>
        </p:nvSpPr>
        <p:spPr>
          <a:xfrm>
            <a:off x="4790538" y="4188902"/>
            <a:ext cx="4037162" cy="12726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EEF3628C-240D-85D9-51AB-AA3584D4C924}"/>
              </a:ext>
            </a:extLst>
          </p:cNvPr>
          <p:cNvSpPr txBox="1"/>
          <p:nvPr/>
        </p:nvSpPr>
        <p:spPr>
          <a:xfrm>
            <a:off x="4902220" y="4444186"/>
            <a:ext cx="3840322" cy="584775"/>
          </a:xfrm>
          <a:prstGeom prst="rect">
            <a:avLst/>
          </a:prstGeom>
          <a:noFill/>
        </p:spPr>
        <p:txBody>
          <a:bodyPr wrap="square">
            <a:spAutoFit/>
          </a:bodyPr>
          <a:lstStyle/>
          <a:p>
            <a:pPr>
              <a:defRPr sz="1600" b="1">
                <a:solidFill>
                  <a:srgbClr val="464646"/>
                </a:solidFill>
              </a:defRPr>
            </a:pPr>
            <a:r>
              <a:rPr lang="en-IN" dirty="0"/>
              <a:t>Stateless API architecture</a:t>
            </a:r>
          </a:p>
          <a:p>
            <a:pPr>
              <a:defRPr sz="1600" b="1">
                <a:solidFill>
                  <a:srgbClr val="464646"/>
                </a:solidFill>
              </a:defRPr>
            </a:pPr>
            <a:endParaRPr dirty="0"/>
          </a:p>
        </p:txBody>
      </p:sp>
      <p:sp>
        <p:nvSpPr>
          <p:cNvPr id="36" name="Rounded Rectangle 18">
            <a:extLst>
              <a:ext uri="{FF2B5EF4-FFF2-40B4-BE49-F238E27FC236}">
                <a16:creationId xmlns:a16="http://schemas.microsoft.com/office/drawing/2014/main" id="{91E147BD-943C-86E5-E14B-1F98C3A8E3C9}"/>
              </a:ext>
            </a:extLst>
          </p:cNvPr>
          <p:cNvSpPr/>
          <p:nvPr/>
        </p:nvSpPr>
        <p:spPr>
          <a:xfrm>
            <a:off x="2780581" y="2847983"/>
            <a:ext cx="3896264" cy="868680"/>
          </a:xfrm>
          <a:prstGeom prst="roundRect">
            <a:avLst/>
          </a:prstGeom>
          <a:solidFill>
            <a:srgbClr val="F8FAFD"/>
          </a:solidFill>
          <a:ln>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8DC8617C-48BC-A768-B9C3-CF934281D06C}"/>
              </a:ext>
            </a:extLst>
          </p:cNvPr>
          <p:cNvSpPr/>
          <p:nvPr/>
        </p:nvSpPr>
        <p:spPr>
          <a:xfrm>
            <a:off x="2780581" y="2847983"/>
            <a:ext cx="3896264" cy="128016"/>
          </a:xfrm>
          <a:prstGeom prst="rect">
            <a:avLst/>
          </a:prstGeom>
          <a:solidFill>
            <a:srgbClr val="009688"/>
          </a:solidFill>
          <a:ln>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4C730616-7BCB-90BA-A39A-E6E1FF6E751D}"/>
              </a:ext>
            </a:extLst>
          </p:cNvPr>
          <p:cNvSpPr txBox="1"/>
          <p:nvPr/>
        </p:nvSpPr>
        <p:spPr>
          <a:xfrm>
            <a:off x="2945173" y="3104015"/>
            <a:ext cx="3116559" cy="584775"/>
          </a:xfrm>
          <a:prstGeom prst="rect">
            <a:avLst/>
          </a:prstGeom>
          <a:noFill/>
        </p:spPr>
        <p:txBody>
          <a:bodyPr wrap="none">
            <a:spAutoFit/>
          </a:bodyPr>
          <a:lstStyle/>
          <a:p>
            <a:pPr>
              <a:defRPr sz="1600" b="1">
                <a:solidFill>
                  <a:srgbClr val="464646"/>
                </a:solidFill>
              </a:defRPr>
            </a:pPr>
            <a:r>
              <a:rPr lang="en-IN" sz="1600" b="1" dirty="0"/>
              <a:t>Independent scaling of UI/API </a:t>
            </a:r>
          </a:p>
          <a:p>
            <a:pPr>
              <a:defRPr sz="1600" b="1">
                <a:solidFill>
                  <a:srgbClr val="464646"/>
                </a:solidFill>
              </a:defRPr>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F442C-8D05-A91B-6D1F-0C29629A2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6AD78-A807-6B56-F541-3BEE4308F74F}"/>
              </a:ext>
            </a:extLst>
          </p:cNvPr>
          <p:cNvSpPr>
            <a:spLocks noGrp="1"/>
          </p:cNvSpPr>
          <p:nvPr>
            <p:ph type="title"/>
          </p:nvPr>
        </p:nvSpPr>
        <p:spPr>
          <a:xfrm>
            <a:off x="289021" y="1871693"/>
            <a:ext cx="4071668" cy="3373167"/>
          </a:xfrm>
        </p:spPr>
        <p:txBody>
          <a:bodyPr>
            <a:normAutofit fontScale="90000"/>
          </a:bodyPr>
          <a:lstStyle/>
          <a:p>
            <a:pPr algn="l">
              <a:defRPr sz="2000">
                <a:solidFill>
                  <a:srgbClr val="3C3C3C"/>
                </a:solidFill>
              </a:defRPr>
            </a:pPr>
            <a:r>
              <a:rPr lang="en-US" dirty="0"/>
              <a:t>Azure Backup</a:t>
            </a:r>
            <a:br>
              <a:rPr lang="en-US" dirty="0"/>
            </a:br>
            <a:br>
              <a:rPr lang="en-US" dirty="0"/>
            </a:br>
            <a:r>
              <a:rPr lang="en-US" dirty="0"/>
              <a:t>Disaster Recovery</a:t>
            </a:r>
            <a:br>
              <a:rPr lang="en-US" dirty="0"/>
            </a:br>
            <a:br>
              <a:rPr lang="en-US" dirty="0"/>
            </a:br>
            <a:r>
              <a:rPr lang="en-IN" sz="2000" dirty="0"/>
              <a:t>Multi-region DR approach </a:t>
            </a:r>
            <a:br>
              <a:rPr lang="en-IN" sz="2000" dirty="0"/>
            </a:br>
            <a:br>
              <a:rPr lang="en-IN" sz="2000" dirty="0"/>
            </a:br>
            <a:r>
              <a:rPr lang="en-IN" sz="2000" dirty="0"/>
              <a:t>Recovery objectives</a:t>
            </a:r>
            <a:br>
              <a:rPr lang="en-IN" sz="2000" dirty="0"/>
            </a:br>
            <a:r>
              <a:rPr lang="en-IN" sz="2000" dirty="0"/>
              <a:t> </a:t>
            </a:r>
            <a:br>
              <a:rPr lang="en-IN" sz="2000" dirty="0"/>
            </a:br>
            <a:r>
              <a:rPr lang="en-IN" sz="2000" dirty="0"/>
              <a:t>Failover strategy </a:t>
            </a:r>
            <a:br>
              <a:rPr lang="en-IN" sz="2000" dirty="0"/>
            </a:br>
            <a:endParaRPr lang="en-IN" dirty="0"/>
          </a:p>
        </p:txBody>
      </p:sp>
      <p:sp>
        <p:nvSpPr>
          <p:cNvPr id="3" name="Content Placeholder 2">
            <a:extLst>
              <a:ext uri="{FF2B5EF4-FFF2-40B4-BE49-F238E27FC236}">
                <a16:creationId xmlns:a16="http://schemas.microsoft.com/office/drawing/2014/main" id="{D6897A2E-A216-7AF2-3DD5-8CACEE3CA952}"/>
              </a:ext>
            </a:extLst>
          </p:cNvPr>
          <p:cNvSpPr>
            <a:spLocks noGrp="1"/>
          </p:cNvSpPr>
          <p:nvPr>
            <p:ph idx="1"/>
          </p:nvPr>
        </p:nvSpPr>
        <p:spPr/>
        <p:txBody>
          <a:bodyPr>
            <a:normAutofit lnSpcReduction="10000"/>
          </a:bodyPr>
          <a:lstStyle/>
          <a:p>
            <a:r>
              <a:rPr lang="en-US" sz="1400" dirty="0"/>
              <a:t>The Disaster Recovery Strategy for the Document Upload Portal is designed to ensure business continuity, high availability, and rapid recovery during infrastructure failures or unexpected outages. The solution leverages Azure Backup and Azure-native disaster recovery capabilities to protect application services, Azure SQL Database, and image storage components. </a:t>
            </a:r>
          </a:p>
          <a:p>
            <a:r>
              <a:rPr lang="en-US" sz="1400" dirty="0"/>
              <a:t>. A multi-region disaster recovery approach is adopted to minimize downtime and support failover to secondary Azure regions during regional failures. Recovery objectives such as Recovery Time Objective (RTO) and Recovery Point Objective (RPO) are defined to ensure controlled recovery timelines and minimal data loss. </a:t>
            </a:r>
          </a:p>
          <a:p>
            <a:r>
              <a:rPr lang="en-US" sz="1400" dirty="0"/>
              <a:t>The architecture also includes automated backup policies, failover mechanisms, monitoring, and recovery procedures to maintain operational resilience and enterprise-grade reliability.</a:t>
            </a:r>
            <a:br>
              <a:rPr lang="en-US" sz="1400" dirty="0"/>
            </a:br>
            <a:endParaRPr lang="en-IN" sz="1400" dirty="0"/>
          </a:p>
        </p:txBody>
      </p:sp>
      <p:sp>
        <p:nvSpPr>
          <p:cNvPr id="4" name="TextBox 3">
            <a:extLst>
              <a:ext uri="{FF2B5EF4-FFF2-40B4-BE49-F238E27FC236}">
                <a16:creationId xmlns:a16="http://schemas.microsoft.com/office/drawing/2014/main" id="{EE58BE66-18A8-3292-4701-99E4BC35B9BF}"/>
              </a:ext>
            </a:extLst>
          </p:cNvPr>
          <p:cNvSpPr txBox="1"/>
          <p:nvPr/>
        </p:nvSpPr>
        <p:spPr>
          <a:xfrm>
            <a:off x="-83460" y="-3567"/>
            <a:ext cx="8249728" cy="523220"/>
          </a:xfrm>
          <a:prstGeom prst="rect">
            <a:avLst/>
          </a:prstGeom>
          <a:noFill/>
        </p:spPr>
        <p:txBody>
          <a:bodyPr wrap="square">
            <a:spAutoFit/>
          </a:bodyPr>
          <a:lstStyle/>
          <a:p>
            <a:pPr>
              <a:defRPr sz="2800" b="1">
                <a:solidFill>
                  <a:srgbClr val="003366"/>
                </a:solidFill>
              </a:defRPr>
            </a:pPr>
            <a:r>
              <a:rPr lang="en-IN" dirty="0"/>
              <a:t>Disaster Recovery Strategy</a:t>
            </a:r>
            <a:endParaRPr dirty="0"/>
          </a:p>
        </p:txBody>
      </p:sp>
      <p:sp>
        <p:nvSpPr>
          <p:cNvPr id="5" name="Rectangle 4">
            <a:extLst>
              <a:ext uri="{FF2B5EF4-FFF2-40B4-BE49-F238E27FC236}">
                <a16:creationId xmlns:a16="http://schemas.microsoft.com/office/drawing/2014/main" id="{B7D3A2F6-8E46-BCDD-6A42-2D4BADA18C18}"/>
              </a:ext>
            </a:extLst>
          </p:cNvPr>
          <p:cNvSpPr/>
          <p:nvPr/>
        </p:nvSpPr>
        <p:spPr>
          <a:xfrm>
            <a:off x="46008" y="672860"/>
            <a:ext cx="8629362"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122269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DevOps Strategy</a:t>
            </a:r>
          </a:p>
        </p:txBody>
      </p:sp>
      <p:sp>
        <p:nvSpPr>
          <p:cNvPr id="3" name="Rectangle 2"/>
          <p:cNvSpPr/>
          <p:nvPr/>
        </p:nvSpPr>
        <p:spPr>
          <a:xfrm>
            <a:off x="457200" y="914400"/>
            <a:ext cx="8428008"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330284" y="1051559"/>
            <a:ext cx="4823890" cy="2185214"/>
          </a:xfrm>
          <a:prstGeom prst="rect">
            <a:avLst/>
          </a:prstGeom>
          <a:noFill/>
        </p:spPr>
        <p:txBody>
          <a:bodyPr wrap="square">
            <a:spAutoFit/>
          </a:bodyPr>
          <a:lstStyle/>
          <a:p>
            <a:pPr>
              <a:defRPr sz="2000">
                <a:solidFill>
                  <a:srgbClr val="3C3C3C"/>
                </a:solidFill>
              </a:defRPr>
            </a:pPr>
            <a:r>
              <a:rPr b="1" dirty="0">
                <a:latin typeface="Baskerville Old Face" panose="02020602080505020303" pitchFamily="18" charset="0"/>
              </a:rPr>
              <a:t>CI/CD </a:t>
            </a:r>
            <a:r>
              <a:rPr lang="en-US" b="1" dirty="0">
                <a:latin typeface="Baskerville Old Face" panose="02020602080505020303" pitchFamily="18" charset="0"/>
              </a:rPr>
              <a:t>pipeline </a:t>
            </a:r>
            <a:r>
              <a:rPr b="1" dirty="0">
                <a:latin typeface="Baskerville Old Face" panose="02020602080505020303" pitchFamily="18" charset="0"/>
              </a:rPr>
              <a:t>using Azure DevOps</a:t>
            </a:r>
          </a:p>
          <a:p>
            <a:pPr>
              <a:defRPr sz="2000">
                <a:solidFill>
                  <a:srgbClr val="3C3C3C"/>
                </a:solidFill>
              </a:defRPr>
            </a:pPr>
            <a:r>
              <a:rPr b="1" dirty="0">
                <a:latin typeface="Baskerville Old Face" panose="02020602080505020303" pitchFamily="18" charset="0"/>
              </a:rPr>
              <a:t>Automated build and deployment</a:t>
            </a:r>
          </a:p>
          <a:p>
            <a:pPr>
              <a:defRPr sz="2000">
                <a:solidFill>
                  <a:srgbClr val="3C3C3C"/>
                </a:solidFill>
              </a:defRPr>
            </a:pPr>
            <a:r>
              <a:rPr lang="en-IN" b="1" dirty="0">
                <a:latin typeface="Baskerville Old Face" panose="02020602080505020303" pitchFamily="18" charset="0"/>
              </a:rPr>
              <a:t>Git workflow </a:t>
            </a:r>
            <a:endParaRPr b="1" dirty="0">
              <a:latin typeface="Baskerville Old Face" panose="02020602080505020303" pitchFamily="18" charset="0"/>
            </a:endParaRPr>
          </a:p>
          <a:p>
            <a:pPr>
              <a:defRPr sz="2000">
                <a:solidFill>
                  <a:srgbClr val="3C3C3C"/>
                </a:solidFill>
              </a:defRPr>
            </a:pPr>
            <a:r>
              <a:rPr b="1" dirty="0">
                <a:latin typeface="Baskerville Old Face" panose="02020602080505020303" pitchFamily="18" charset="0"/>
              </a:rPr>
              <a:t>Containerized deployment using Docker</a:t>
            </a:r>
            <a:endParaRPr lang="en-IN" b="1" dirty="0">
              <a:latin typeface="Baskerville Old Face" panose="02020602080505020303" pitchFamily="18" charset="0"/>
            </a:endParaRPr>
          </a:p>
          <a:p>
            <a:pPr lvl="0"/>
            <a:r>
              <a:rPr lang="en-IN" b="1" dirty="0">
                <a:latin typeface="Baskerville Old Face" panose="02020602080505020303" pitchFamily="18" charset="0"/>
              </a:rPr>
              <a:t>Automated deployment </a:t>
            </a:r>
          </a:p>
          <a:p>
            <a:pPr lvl="0"/>
            <a:r>
              <a:rPr lang="en-IN" b="1" dirty="0">
                <a:latin typeface="Baskerville Old Face" panose="02020602080505020303" pitchFamily="18" charset="0"/>
              </a:rPr>
              <a:t>Environment promotion flow </a:t>
            </a:r>
          </a:p>
          <a:p>
            <a:pPr>
              <a:defRPr sz="2000">
                <a:solidFill>
                  <a:srgbClr val="3C3C3C"/>
                </a:solidFill>
              </a:defRPr>
            </a:pPr>
            <a:endParaRPr dirty="0">
              <a:solidFill>
                <a:schemeClr val="accent2">
                  <a:lumMod val="40000"/>
                  <a:lumOff val="60000"/>
                </a:schemeClr>
              </a:solidFill>
            </a:endParaRPr>
          </a:p>
        </p:txBody>
      </p:sp>
      <p:sp>
        <p:nvSpPr>
          <p:cNvPr id="5" name="Rectangle: Rounded Corners 4">
            <a:extLst>
              <a:ext uri="{FF2B5EF4-FFF2-40B4-BE49-F238E27FC236}">
                <a16:creationId xmlns:a16="http://schemas.microsoft.com/office/drawing/2014/main" id="{2CBB1308-8569-51BB-F6C3-42F6A8E350A0}"/>
              </a:ext>
            </a:extLst>
          </p:cNvPr>
          <p:cNvSpPr/>
          <p:nvPr/>
        </p:nvSpPr>
        <p:spPr>
          <a:xfrm>
            <a:off x="661358" y="3151228"/>
            <a:ext cx="8114582" cy="3266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The DevOps Strategy for the Document Upload Portal is designed to enable faster, reliable, and automated application delivery across IT, UAT, and Production environments. The solution leverages Azure DevOps to implement a robust CI/CD pipeline that supports automated code integration, build validation, testing, and deployment processes. A structured Git workflow is followed to manage source code versioning, branching, and collaboration among development teams. The application supports containerized deployment using Docker to ensure environment consistency, portability, and scalability across deployment stages. Automated deployment and environment promotion flows are implemented to streamline release management, reduce manual intervention, and ensure controlled and secure application rollout across different environments.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Logging &amp; Monitoring</a:t>
            </a:r>
          </a:p>
        </p:txBody>
      </p:sp>
      <p:sp>
        <p:nvSpPr>
          <p:cNvPr id="3" name="Rectangle 2"/>
          <p:cNvSpPr/>
          <p:nvPr/>
        </p:nvSpPr>
        <p:spPr>
          <a:xfrm>
            <a:off x="457200" y="914400"/>
            <a:ext cx="8410755"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79784" y="987552"/>
            <a:ext cx="2664412" cy="1508105"/>
          </a:xfrm>
          <a:prstGeom prst="rect">
            <a:avLst/>
          </a:prstGeom>
          <a:noFill/>
        </p:spPr>
        <p:txBody>
          <a:bodyPr wrap="square">
            <a:spAutoFit/>
          </a:bodyPr>
          <a:lstStyle/>
          <a:p>
            <a:pPr lvl="0"/>
            <a:r>
              <a:rPr lang="en-IN" dirty="0"/>
              <a:t>1. Azure Monitor </a:t>
            </a:r>
          </a:p>
          <a:p>
            <a:pPr lvl="0"/>
            <a:r>
              <a:rPr lang="en-IN" dirty="0"/>
              <a:t>2. Application Insights </a:t>
            </a:r>
          </a:p>
          <a:p>
            <a:pPr lvl="0"/>
            <a:r>
              <a:rPr lang="en-IN" dirty="0"/>
              <a:t>3. Centralized logging </a:t>
            </a:r>
          </a:p>
          <a:p>
            <a:pPr lvl="0"/>
            <a:r>
              <a:rPr lang="en-IN" dirty="0"/>
              <a:t>4. Telemetry </a:t>
            </a:r>
          </a:p>
          <a:p>
            <a:pPr>
              <a:defRPr sz="2000">
                <a:solidFill>
                  <a:srgbClr val="3C3C3C"/>
                </a:solidFill>
              </a:defRPr>
            </a:pPr>
            <a:endParaRPr dirty="0"/>
          </a:p>
        </p:txBody>
      </p:sp>
      <p:sp>
        <p:nvSpPr>
          <p:cNvPr id="5" name="TextBox 4">
            <a:extLst>
              <a:ext uri="{FF2B5EF4-FFF2-40B4-BE49-F238E27FC236}">
                <a16:creationId xmlns:a16="http://schemas.microsoft.com/office/drawing/2014/main" id="{FAC89DA3-45A4-6D5C-0ED6-9D705698F376}"/>
              </a:ext>
            </a:extLst>
          </p:cNvPr>
          <p:cNvSpPr txBox="1"/>
          <p:nvPr/>
        </p:nvSpPr>
        <p:spPr>
          <a:xfrm>
            <a:off x="4410976" y="979286"/>
            <a:ext cx="3153240" cy="1231106"/>
          </a:xfrm>
          <a:prstGeom prst="rect">
            <a:avLst/>
          </a:prstGeom>
          <a:noFill/>
        </p:spPr>
        <p:txBody>
          <a:bodyPr wrap="square">
            <a:spAutoFit/>
          </a:bodyPr>
          <a:lstStyle/>
          <a:p>
            <a:pPr lvl="0"/>
            <a:r>
              <a:rPr lang="en-IN" dirty="0">
                <a:latin typeface="Baskerville Old Face" panose="02020602080505020303" pitchFamily="18" charset="0"/>
              </a:rPr>
              <a:t>5. Alerting </a:t>
            </a:r>
          </a:p>
          <a:p>
            <a:pPr lvl="0"/>
            <a:r>
              <a:rPr lang="en-IN" dirty="0">
                <a:latin typeface="Baskerville Old Face" panose="02020602080505020303" pitchFamily="18" charset="0"/>
              </a:rPr>
              <a:t>6. Health monitoring </a:t>
            </a:r>
          </a:p>
          <a:p>
            <a:pPr lvl="0"/>
            <a:r>
              <a:rPr lang="en-IN" dirty="0">
                <a:latin typeface="Baskerville Old Face" panose="02020602080505020303" pitchFamily="18" charset="0"/>
              </a:rPr>
              <a:t>7. Production support strategy </a:t>
            </a:r>
          </a:p>
          <a:p>
            <a:pPr>
              <a:defRPr sz="2000">
                <a:solidFill>
                  <a:srgbClr val="3C3C3C"/>
                </a:solidFill>
              </a:defRPr>
            </a:pPr>
            <a:endParaRPr dirty="0">
              <a:latin typeface="Baskerville Old Face" panose="02020602080505020303" pitchFamily="18" charset="0"/>
            </a:endParaRPr>
          </a:p>
        </p:txBody>
      </p:sp>
      <p:sp>
        <p:nvSpPr>
          <p:cNvPr id="8" name="TextBox 7">
            <a:extLst>
              <a:ext uri="{FF2B5EF4-FFF2-40B4-BE49-F238E27FC236}">
                <a16:creationId xmlns:a16="http://schemas.microsoft.com/office/drawing/2014/main" id="{FD20561A-2845-35EF-838C-B169A8AE4BC3}"/>
              </a:ext>
            </a:extLst>
          </p:cNvPr>
          <p:cNvSpPr txBox="1"/>
          <p:nvPr/>
        </p:nvSpPr>
        <p:spPr>
          <a:xfrm>
            <a:off x="891397" y="2487391"/>
            <a:ext cx="7487728" cy="3416320"/>
          </a:xfrm>
          <a:prstGeom prst="rect">
            <a:avLst/>
          </a:prstGeom>
          <a:noFill/>
        </p:spPr>
        <p:txBody>
          <a:bodyPr wrap="square">
            <a:spAutoFit/>
          </a:bodyPr>
          <a:lstStyle/>
          <a:p>
            <a:r>
              <a:rPr lang="en-US" dirty="0"/>
              <a:t>The Logging and Monitoring Strategy for the Document Upload Portal is designed to provide centralized observability, proactive monitoring, and operational visibility across the entire application ecosystem. The solution leverages Azure Monitor and Application Insights to capture application logs, telemetry data, API performance metrics, exception traces, and infrastructure health information in real time. Centralized logging enables efficient troubleshooting, audit tracking, and production support management, while telemetry and health monitoring provide insights into system performance, availability, and user activity. Automated alerting mechanisms are configured to notify support teams about critical failures, performance degradation, and security incidents, ensuring faster incident response and improved system reliability in production environments.</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1803" y="458062"/>
            <a:ext cx="8468264" cy="523220"/>
          </a:xfrm>
          <a:prstGeom prst="rect">
            <a:avLst/>
          </a:prstGeom>
          <a:noFill/>
        </p:spPr>
        <p:txBody>
          <a:bodyPr wrap="square">
            <a:spAutoFit/>
          </a:bodyPr>
          <a:lstStyle/>
          <a:p>
            <a:pPr>
              <a:defRPr sz="2800" b="1">
                <a:solidFill>
                  <a:srgbClr val="003366"/>
                </a:solidFill>
              </a:defRPr>
            </a:pPr>
            <a:r>
              <a:rPr dirty="0"/>
              <a:t>Security &amp; Governance</a:t>
            </a:r>
          </a:p>
        </p:txBody>
      </p:sp>
      <p:sp>
        <p:nvSpPr>
          <p:cNvPr id="3" name="Rectangle 2"/>
          <p:cNvSpPr/>
          <p:nvPr/>
        </p:nvSpPr>
        <p:spPr>
          <a:xfrm>
            <a:off x="626854" y="914400"/>
            <a:ext cx="7936302"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50898" y="4875075"/>
            <a:ext cx="4612257" cy="1323439"/>
          </a:xfrm>
          <a:prstGeom prst="rect">
            <a:avLst/>
          </a:prstGeom>
          <a:noFill/>
        </p:spPr>
        <p:txBody>
          <a:bodyPr wrap="square">
            <a:spAutoFit/>
          </a:bodyPr>
          <a:lstStyle/>
          <a:p>
            <a:pPr>
              <a:defRPr sz="2000">
                <a:solidFill>
                  <a:srgbClr val="3C3C3C"/>
                </a:solidFill>
              </a:defRPr>
            </a:pPr>
            <a:r>
              <a:rPr b="1" dirty="0"/>
              <a:t>JWT Authentication and RBAC</a:t>
            </a:r>
          </a:p>
          <a:p>
            <a:pPr>
              <a:defRPr sz="2000">
                <a:solidFill>
                  <a:srgbClr val="3C3C3C"/>
                </a:solidFill>
              </a:defRPr>
            </a:pPr>
            <a:r>
              <a:rPr b="1" dirty="0"/>
              <a:t>API Key validation</a:t>
            </a:r>
          </a:p>
          <a:p>
            <a:pPr>
              <a:defRPr sz="2000">
                <a:solidFill>
                  <a:srgbClr val="3C3C3C"/>
                </a:solidFill>
              </a:defRPr>
            </a:pPr>
            <a:r>
              <a:rPr b="1" dirty="0"/>
              <a:t>Secrets managed in Azure Key Vault</a:t>
            </a:r>
          </a:p>
          <a:p>
            <a:pPr>
              <a:defRPr sz="2000">
                <a:solidFill>
                  <a:srgbClr val="3C3C3C"/>
                </a:solidFill>
              </a:defRPr>
            </a:pPr>
            <a:r>
              <a:rPr b="1" dirty="0"/>
              <a:t>Audit logging and compliance</a:t>
            </a:r>
          </a:p>
        </p:txBody>
      </p:sp>
      <p:sp>
        <p:nvSpPr>
          <p:cNvPr id="5" name="Rectangle: Rounded Corners 4">
            <a:extLst>
              <a:ext uri="{FF2B5EF4-FFF2-40B4-BE49-F238E27FC236}">
                <a16:creationId xmlns:a16="http://schemas.microsoft.com/office/drawing/2014/main" id="{96072761-D75E-8E0F-7917-B7CCFA9F6FFD}"/>
              </a:ext>
            </a:extLst>
          </p:cNvPr>
          <p:cNvSpPr/>
          <p:nvPr/>
        </p:nvSpPr>
        <p:spPr>
          <a:xfrm>
            <a:off x="721743" y="1092679"/>
            <a:ext cx="7700513" cy="35310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Security &amp; Governance strategy for the Document Upload Portal is designed to ensure secure access, regulatory compliance, and enterprise-grade protection across the entire application ecosystem. The solution implements JWT-based authentication and Role-Based Access Control (RBAC) to enforce secure user authentication and authorization for all API operations. API Key validation provides an additional layer of security for controlled API access, while Azure Key Vault is used for secure management of connection strings, JWT secrets, and sensitive configuration values. Audit logging and compliance mechanisms are integrated to maintain operational traceability, security monitoring, and adherence to organizational governance and security standards.</a:t>
            </a:r>
            <a:endParaRPr lang="en-IN"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t>Risk &amp; Mitigation</a:t>
            </a:r>
          </a:p>
        </p:txBody>
      </p:sp>
      <p:sp>
        <p:nvSpPr>
          <p:cNvPr id="3" name="Rectangle 2"/>
          <p:cNvSpPr/>
          <p:nvPr/>
        </p:nvSpPr>
        <p:spPr>
          <a:xfrm>
            <a:off x="457200" y="914400"/>
            <a:ext cx="8568813"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7244408" cy="1374552"/>
          </a:xfrm>
          <a:prstGeom prst="rect">
            <a:avLst/>
          </a:prstGeom>
          <a:noFill/>
        </p:spPr>
        <p:txBody>
          <a:bodyPr wrap="square">
            <a:spAutoFit/>
          </a:bodyPr>
          <a:lstStyle/>
          <a:p>
            <a:pPr>
              <a:defRPr sz="2000">
                <a:solidFill>
                  <a:srgbClr val="3C3C3C"/>
                </a:solidFill>
              </a:defRPr>
            </a:pPr>
            <a:r>
              <a:rPr dirty="0"/>
              <a:t>Unauthorized access → JWT + RBAC</a:t>
            </a:r>
            <a:r>
              <a:rPr lang="en-US" dirty="0"/>
              <a:t> + API Key</a:t>
            </a:r>
            <a:endParaRPr dirty="0"/>
          </a:p>
          <a:p>
            <a:pPr>
              <a:defRPr sz="2000">
                <a:solidFill>
                  <a:srgbClr val="3C3C3C"/>
                </a:solidFill>
              </a:defRPr>
            </a:pPr>
            <a:r>
              <a:rPr dirty="0"/>
              <a:t>Data loss → Backup Strategy</a:t>
            </a:r>
          </a:p>
          <a:p>
            <a:pPr>
              <a:defRPr sz="2000">
                <a:solidFill>
                  <a:srgbClr val="3C3C3C"/>
                </a:solidFill>
              </a:defRPr>
            </a:pPr>
            <a:r>
              <a:rPr dirty="0"/>
              <a:t>Performance bottleneck → Compression &amp; Scaling</a:t>
            </a:r>
          </a:p>
          <a:p>
            <a:pPr>
              <a:defRPr sz="2000">
                <a:solidFill>
                  <a:srgbClr val="3C3C3C"/>
                </a:solidFill>
              </a:defRPr>
            </a:pPr>
            <a:r>
              <a:rPr dirty="0"/>
              <a:t>Application failure → Monitoring &amp; Alerts</a:t>
            </a:r>
          </a:p>
        </p:txBody>
      </p:sp>
      <p:sp>
        <p:nvSpPr>
          <p:cNvPr id="6" name="TextBox 5">
            <a:extLst>
              <a:ext uri="{FF2B5EF4-FFF2-40B4-BE49-F238E27FC236}">
                <a16:creationId xmlns:a16="http://schemas.microsoft.com/office/drawing/2014/main" id="{47CF824C-24DE-C416-0762-B36DE2E76425}"/>
              </a:ext>
            </a:extLst>
          </p:cNvPr>
          <p:cNvSpPr txBox="1"/>
          <p:nvPr/>
        </p:nvSpPr>
        <p:spPr>
          <a:xfrm>
            <a:off x="1250664" y="2728968"/>
            <a:ext cx="7952329" cy="3693319"/>
          </a:xfrm>
          <a:prstGeom prst="rect">
            <a:avLst/>
          </a:prstGeom>
          <a:noFill/>
        </p:spPr>
        <p:txBody>
          <a:bodyPr wrap="square">
            <a:spAutoFit/>
          </a:bodyPr>
          <a:lstStyle/>
          <a:p>
            <a:r>
              <a:rPr lang="en-US" b="1" dirty="0"/>
              <a:t>The Risk and Mitigation strategy for the Document Upload Portal is designed to proactively address security, availability, performance, and operational risks to ensure a resilient and enterprise-grade solution. Unauthorized access risks are mitigated through JWT-based authentication, Role-Based Access Control (RBAC), and API Key validation to secure all API interactions. Data loss risks are minimized using automated Azure backup and recovery strategies, while performance bottlenecks are handled through image compression, optimized processing, and scalable Azure infrastructure. Application failures are proactively managed using centralized monitoring, health checks, telemetry, and automated alerting through Azure Monitor and Application Insights to ensure high availability and rapid incident response.</a:t>
            </a:r>
            <a:endParaRPr lang="en-IN"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548640"/>
          </a:xfrm>
          <a:prstGeom prst="rect">
            <a:avLst/>
          </a:prstGeom>
          <a:noFill/>
        </p:spPr>
        <p:txBody>
          <a:bodyPr wrap="none">
            <a:spAutoFit/>
          </a:bodyPr>
          <a:lstStyle/>
          <a:p>
            <a:pPr>
              <a:defRPr sz="2800" b="1">
                <a:solidFill>
                  <a:srgbClr val="003366"/>
                </a:solidFill>
              </a:defRPr>
            </a:pPr>
            <a:r>
              <a:rPr dirty="0"/>
              <a:t>Deployment &amp; Cloud Architecture</a:t>
            </a:r>
          </a:p>
        </p:txBody>
      </p:sp>
      <p:sp>
        <p:nvSpPr>
          <p:cNvPr id="3" name="Rectangle 2"/>
          <p:cNvSpPr/>
          <p:nvPr/>
        </p:nvSpPr>
        <p:spPr>
          <a:xfrm>
            <a:off x="457200" y="914400"/>
            <a:ext cx="8533417" cy="45719"/>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3840480" cy="1508105"/>
          </a:xfrm>
          <a:prstGeom prst="rect">
            <a:avLst/>
          </a:prstGeom>
          <a:noFill/>
        </p:spPr>
        <p:txBody>
          <a:bodyPr wrap="square">
            <a:spAutoFit/>
          </a:bodyPr>
          <a:lstStyle/>
          <a:p>
            <a:pPr lvl="0"/>
            <a:r>
              <a:rPr lang="en-IN" dirty="0">
                <a:latin typeface="Baskerville Old Face" panose="02020602080505020303" pitchFamily="18" charset="0"/>
              </a:rPr>
              <a:t>Azure Front Door + App Services</a:t>
            </a:r>
          </a:p>
          <a:p>
            <a:pPr lvl="0"/>
            <a:r>
              <a:rPr lang="en-IN" dirty="0">
                <a:latin typeface="Baskerville Old Face" panose="02020602080505020303" pitchFamily="18" charset="0"/>
              </a:rPr>
              <a:t>Web App ↔ Web API communication</a:t>
            </a:r>
          </a:p>
          <a:p>
            <a:pPr lvl="0"/>
            <a:r>
              <a:rPr lang="en-IN" dirty="0">
                <a:latin typeface="Baskerville Old Face" panose="02020602080505020303" pitchFamily="18" charset="0"/>
              </a:rPr>
              <a:t>Azure SQL + Local Storage Integration</a:t>
            </a:r>
          </a:p>
          <a:p>
            <a:pPr lvl="0"/>
            <a:r>
              <a:rPr lang="en-IN" dirty="0">
                <a:latin typeface="Baskerville Old Face" panose="02020602080505020303" pitchFamily="18" charset="0"/>
              </a:rPr>
              <a:t>Secure networking and monitoring</a:t>
            </a:r>
          </a:p>
          <a:p>
            <a:pPr>
              <a:defRPr sz="2000">
                <a:solidFill>
                  <a:srgbClr val="3C3C3C"/>
                </a:solidFill>
              </a:defRPr>
            </a:pPr>
            <a:r>
              <a:rPr lang="en-IN" sz="2000" kern="100" dirty="0">
                <a:latin typeface="Baskerville Old Face" panose="02020602080505020303" pitchFamily="18" charset="0"/>
                <a:ea typeface="Calibri" panose="020F0502020204030204" pitchFamily="34" charset="0"/>
                <a:cs typeface="Times New Roman" panose="02020603050405020304" pitchFamily="18" charset="0"/>
              </a:rPr>
              <a:t>Azure App Services </a:t>
            </a:r>
          </a:p>
        </p:txBody>
      </p:sp>
      <p:sp>
        <p:nvSpPr>
          <p:cNvPr id="6" name="TextBox 5">
            <a:extLst>
              <a:ext uri="{FF2B5EF4-FFF2-40B4-BE49-F238E27FC236}">
                <a16:creationId xmlns:a16="http://schemas.microsoft.com/office/drawing/2014/main" id="{66A85142-83C8-F7A0-975F-867F79FD170E}"/>
              </a:ext>
            </a:extLst>
          </p:cNvPr>
          <p:cNvSpPr txBox="1"/>
          <p:nvPr/>
        </p:nvSpPr>
        <p:spPr>
          <a:xfrm>
            <a:off x="5715000" y="1188720"/>
            <a:ext cx="2666508" cy="1561005"/>
          </a:xfrm>
          <a:prstGeom prst="rect">
            <a:avLst/>
          </a:prstGeom>
          <a:noFill/>
        </p:spPr>
        <p:txBody>
          <a:bodyPr wrap="square">
            <a:spAutoFit/>
          </a:bodyPr>
          <a:lstStyle/>
          <a:p>
            <a:pPr lvl="0">
              <a:lnSpc>
                <a:spcPct val="107000"/>
              </a:lnSpc>
            </a:pPr>
            <a:r>
              <a:rPr lang="en-IN" sz="1800" kern="100" dirty="0">
                <a:effectLst/>
                <a:latin typeface="Baskerville Old Face" panose="02020602080505020303" pitchFamily="18" charset="0"/>
                <a:ea typeface="Calibri" panose="020F0502020204030204" pitchFamily="34" charset="0"/>
                <a:cs typeface="Times New Roman" panose="02020603050405020304" pitchFamily="18" charset="0"/>
              </a:rPr>
              <a:t>Azure Key Vault </a:t>
            </a:r>
          </a:p>
          <a:p>
            <a:pPr lvl="0">
              <a:lnSpc>
                <a:spcPct val="107000"/>
              </a:lnSpc>
            </a:pPr>
            <a:r>
              <a:rPr lang="en-IN" sz="1800" kern="100" dirty="0">
                <a:effectLst/>
                <a:latin typeface="Baskerville Old Face" panose="02020602080505020303" pitchFamily="18" charset="0"/>
                <a:ea typeface="Calibri" panose="020F0502020204030204" pitchFamily="34" charset="0"/>
                <a:cs typeface="Times New Roman" panose="02020603050405020304" pitchFamily="18" charset="0"/>
              </a:rPr>
              <a:t>Monitoring Services </a:t>
            </a:r>
          </a:p>
          <a:p>
            <a:pPr lvl="0">
              <a:lnSpc>
                <a:spcPct val="107000"/>
              </a:lnSpc>
            </a:pPr>
            <a:r>
              <a:rPr lang="en-IN" sz="1800" kern="100" dirty="0">
                <a:effectLst/>
                <a:latin typeface="Baskerville Old Face" panose="02020602080505020303" pitchFamily="18" charset="0"/>
                <a:ea typeface="Calibri" panose="020F0502020204030204" pitchFamily="34" charset="0"/>
                <a:cs typeface="Times New Roman" panose="02020603050405020304" pitchFamily="18" charset="0"/>
              </a:rPr>
              <a:t>Networking flow </a:t>
            </a:r>
          </a:p>
          <a:p>
            <a:pPr lvl="0">
              <a:lnSpc>
                <a:spcPct val="107000"/>
              </a:lnSpc>
            </a:pPr>
            <a:r>
              <a:rPr lang="en-IN" sz="1800" kern="100" dirty="0">
                <a:effectLst/>
                <a:latin typeface="Baskerville Old Face" panose="02020602080505020303" pitchFamily="18" charset="0"/>
                <a:ea typeface="Calibri" panose="020F0502020204030204" pitchFamily="34" charset="0"/>
                <a:cs typeface="Times New Roman" panose="02020603050405020304" pitchFamily="18" charset="0"/>
              </a:rPr>
              <a:t>Storage integration </a:t>
            </a:r>
          </a:p>
          <a:p>
            <a:pPr lvl="0">
              <a:lnSpc>
                <a:spcPct val="107000"/>
              </a:lnSpc>
              <a:spcAft>
                <a:spcPts val="800"/>
              </a:spcAft>
            </a:pPr>
            <a:r>
              <a:rPr lang="en-IN" sz="1800" kern="100" dirty="0">
                <a:effectLst/>
                <a:latin typeface="Baskerville Old Face" panose="02020602080505020303" pitchFamily="18" charset="0"/>
                <a:ea typeface="Calibri" panose="020F0502020204030204" pitchFamily="34" charset="0"/>
                <a:cs typeface="Times New Roman" panose="02020603050405020304" pitchFamily="18" charset="0"/>
              </a:rPr>
              <a:t>Security boundaries </a:t>
            </a:r>
          </a:p>
        </p:txBody>
      </p:sp>
      <p:sp>
        <p:nvSpPr>
          <p:cNvPr id="9" name="TextBox 8">
            <a:extLst>
              <a:ext uri="{FF2B5EF4-FFF2-40B4-BE49-F238E27FC236}">
                <a16:creationId xmlns:a16="http://schemas.microsoft.com/office/drawing/2014/main" id="{00024F17-C50A-0460-1C93-EB70EE18392C}"/>
              </a:ext>
            </a:extLst>
          </p:cNvPr>
          <p:cNvSpPr txBox="1"/>
          <p:nvPr/>
        </p:nvSpPr>
        <p:spPr>
          <a:xfrm>
            <a:off x="797150" y="3340694"/>
            <a:ext cx="7812220" cy="3046988"/>
          </a:xfrm>
          <a:prstGeom prst="rect">
            <a:avLst/>
          </a:prstGeom>
          <a:noFill/>
        </p:spPr>
        <p:txBody>
          <a:bodyPr wrap="square">
            <a:spAutoFit/>
          </a:bodyPr>
          <a:lstStyle/>
          <a:p>
            <a:pPr>
              <a:buNone/>
            </a:pPr>
            <a:r>
              <a:rPr lang="en-US" sz="1600" dirty="0"/>
              <a:t>The Deployment &amp; Cloud Architecture of the Document Upload Portal is designed using a secure, scalable, and cloud-native Azure architecture model. The solution leverages Azure Front Door and Azure App Services to provide secure, high-availability access to the Web Application and Web API components with optimized request routing and load distribution. The Web Application communicates securely with the backend Web API over HTTPS using JWT authentication, API Key validation, and RBAC authorization mechanisms. Azure SQL Database is used for centralized metadata storage, while local image storage is integrated for secure physical image management. Azure Key Vault is implemented for secure secret and configuration management, and Azure Monitor with Application Insights provides centralized monitoring, telemetry, logging, and operational visibility. The architecture also enforces secure networking boundaries, layered security controls, and structured data flow to ensure enterprise-grade scalability, maintainability, and production readiness.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6879" y="274320"/>
            <a:ext cx="8330242" cy="523220"/>
          </a:xfrm>
          <a:prstGeom prst="rect">
            <a:avLst/>
          </a:prstGeom>
          <a:noFill/>
        </p:spPr>
        <p:txBody>
          <a:bodyPr wrap="square">
            <a:spAutoFit/>
          </a:bodyPr>
          <a:lstStyle/>
          <a:p>
            <a:pPr>
              <a:defRPr sz="2800" b="1">
                <a:solidFill>
                  <a:srgbClr val="003366"/>
                </a:solidFill>
              </a:defRPr>
            </a:pPr>
            <a:r>
              <a:rPr dirty="0"/>
              <a:t>Conclusion</a:t>
            </a:r>
          </a:p>
        </p:txBody>
      </p:sp>
      <p:sp>
        <p:nvSpPr>
          <p:cNvPr id="3" name="Rectangle 2"/>
          <p:cNvSpPr/>
          <p:nvPr/>
        </p:nvSpPr>
        <p:spPr>
          <a:xfrm>
            <a:off x="457200" y="914400"/>
            <a:ext cx="8403631" cy="73152"/>
          </a:xfrm>
          <a:prstGeom prst="rect">
            <a:avLst/>
          </a:prstGeom>
          <a:solidFill>
            <a:srgbClr val="0066CC"/>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51981"/>
            <a:ext cx="7917899" cy="4093428"/>
          </a:xfrm>
          <a:prstGeom prst="rect">
            <a:avLst/>
          </a:prstGeom>
          <a:noFill/>
        </p:spPr>
        <p:txBody>
          <a:bodyPr wrap="square">
            <a:spAutoFit/>
          </a:bodyPr>
          <a:lstStyle/>
          <a:p>
            <a:pPr>
              <a:defRPr sz="2000">
                <a:solidFill>
                  <a:srgbClr val="3C3C3C"/>
                </a:solidFill>
              </a:defRPr>
            </a:pPr>
            <a:r>
              <a:rPr lang="en-US" sz="2000" dirty="0"/>
              <a:t>The Document Upload Portal is designed as a secure, scalable, and enterprise-grade cloud-native solution built on Microsoft Azure. The architecture leverages .NET Core Web Application and Web API, Azure App Services, Azure SQL Database, Azure Key Vault, and centralized monitoring services to deliver reliable and efficient image upload, preview, retrieval, and metadata management capabilities. The solution incorporates robust security mechanisms such as JWT authentication, RBAC authorization, API Key validation, and secure secret management to ensure protected access and compliance. With modular layered architecture, CI/CD-driven DevOps strategy, disaster recovery planning, centralized logging, monitoring, and scalable deployment design, the platform ensures high availability, maintainability, operational resilience, and future extensibility aligned with enterprise architecture best practices.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72F99E-A6E1-DBB1-C4FB-739FC1B5D637}"/>
              </a:ext>
            </a:extLst>
          </p:cNvPr>
          <p:cNvSpPr txBox="1"/>
          <p:nvPr/>
        </p:nvSpPr>
        <p:spPr>
          <a:xfrm>
            <a:off x="2035834" y="2827739"/>
            <a:ext cx="5710688" cy="1107996"/>
          </a:xfrm>
          <a:prstGeom prst="rect">
            <a:avLst/>
          </a:prstGeom>
          <a:noFill/>
        </p:spPr>
        <p:txBody>
          <a:bodyPr wrap="square">
            <a:spAutoFit/>
          </a:bodyPr>
          <a:lstStyle/>
          <a:p>
            <a:pPr>
              <a:defRPr sz="2800" b="1">
                <a:solidFill>
                  <a:srgbClr val="003366"/>
                </a:solidFill>
              </a:defRPr>
            </a:pPr>
            <a:r>
              <a:rPr lang="en-US" sz="6600" dirty="0"/>
              <a:t>Thank  You!</a:t>
            </a:r>
            <a:endParaRPr sz="6600" dirty="0"/>
          </a:p>
        </p:txBody>
      </p:sp>
    </p:spTree>
    <p:extLst>
      <p:ext uri="{BB962C8B-B14F-4D97-AF65-F5344CB8AC3E}">
        <p14:creationId xmlns:p14="http://schemas.microsoft.com/office/powerpoint/2010/main" val="902575625"/>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Parcel">
  <a:themeElements>
    <a:clrScheme name="Parcel">
      <a:dk1>
        <a:srgbClr val="000000"/>
      </a:dk1>
      <a:lt1>
        <a:sysClr val="window" lastClr="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4.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5.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
  <TotalTime>1453</TotalTime>
  <Words>1752</Words>
  <Application>Microsoft Office PowerPoint</Application>
  <PresentationFormat>On-screen Show (4:3)</PresentationFormat>
  <Paragraphs>124</Paragraphs>
  <Slides>17</Slides>
  <Notes>0</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17</vt:i4>
      </vt:variant>
    </vt:vector>
  </HeadingPairs>
  <TitlesOfParts>
    <vt:vector size="30" baseType="lpstr">
      <vt:lpstr>Arial</vt:lpstr>
      <vt:lpstr>Baskerville Old Face</vt:lpstr>
      <vt:lpstr>Century Gothic</vt:lpstr>
      <vt:lpstr>Garamond</vt:lpstr>
      <vt:lpstr>Gill Sans MT</vt:lpstr>
      <vt:lpstr>Trebuchet MS</vt:lpstr>
      <vt:lpstr>Tw Cen MT</vt:lpstr>
      <vt:lpstr>Wingdings 3</vt:lpstr>
      <vt:lpstr>Parcel</vt:lpstr>
      <vt:lpstr>Facet</vt:lpstr>
      <vt:lpstr>Circuit</vt:lpstr>
      <vt:lpstr>Organic</vt:lpstr>
      <vt:lpstr>Wisp</vt:lpstr>
      <vt:lpstr>PowerPoint Presentation</vt:lpstr>
      <vt:lpstr>PowerPoint Presentation</vt:lpstr>
      <vt:lpstr>PowerPoint Presentation</vt:lpstr>
      <vt:lpstr>PowerPoint Presentation</vt:lpstr>
      <vt:lpstr>HTTPS Secure Communication  Password-based Authentication  2-Factor Authentication (Future Scope)  Encryption/Decryption using Azure Key Vault  </vt:lpstr>
      <vt:lpstr>Diagrams</vt:lpstr>
      <vt:lpstr>Low Level Design  Class Diagram Component Diagram Sequence Diagram E-R Diagram </vt:lpstr>
      <vt:lpstr>PowerPoint Presentation</vt:lpstr>
      <vt:lpstr>PowerPoint Presentation</vt:lpstr>
      <vt:lpstr>Azure Backup  Disaster Recovery  Multi-region DR approach   Recovery objectives   Failover strategy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Shashi Shekhar</cp:lastModifiedBy>
  <cp:revision>39</cp:revision>
  <dcterms:created xsi:type="dcterms:W3CDTF">2013-01-27T09:14:16Z</dcterms:created>
  <dcterms:modified xsi:type="dcterms:W3CDTF">2026-05-23T10:19:39Z</dcterms:modified>
  <cp:category/>
</cp:coreProperties>
</file>